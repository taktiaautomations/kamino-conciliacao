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5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30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Abertura: o case não é sobre conciliar mais rápido, é sobre confiança no saldo. Os três círculos antecipam a tese da fronteira de IA: age, sugere,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60–90 segundos, no máximo. A banca quer contexto, não currículo: quem é, o que já entregou, como trabalha. Fechar conectando com o case: 'e foi assim que ataquei o desafio de vocês'.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Decisão de framing: o problema é confiança, não velocidade. Isso orienta tudo: evidência visível, incerteza explícita, reversibilidade.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Honestidade intelectual: dados direcionais de mercado, sinalizados como tal. O ponto-chave do benchmark: autonomia no matching, decisão humana no fato financeiro.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insight: o caso 1:1 nunca foi o problema. O custo está nas exceções — exatamente o que o Apêndice A do case testa.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Defesa da hipótese: porte da empresa implica um operador financeiro. Chat serve à dona; fila serve ao analista; mesma engine de conciliação por trás.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princípio é testável no protótipo: se a banca perguntar 'onde está o princípio 3?', mostro o desfazer e a trilha na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Esboço, não design final. A decisão defendida: chat comanda, mas o estado (saldos, fila) é persistente — responde às objeções de auditabilidade e revisão em massa.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que diferencia: os R$ 650 batem exatamente com ISS 5% + IRRF 1,5%. A IA explica o porquê da hipótese fiscal e pede confirmação — nunca lança imposto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Critério central da banca. Justificar por risco e corretude: matching errado é reversível; lançamento fiscal errado corrompe a contabilidade.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Ponto-chave: rollout controlado não é go-live big bang. Progressão por coorte condicionada aos KPIs do slide seguinte. A estimativa é hipótese de PM — quem cravaria é o planning com o tech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KPIs conectam a métrica de negócio (tempo, adoção) com a métrica de confiança (taxa de reversão). Meta declarada como hipótese: maturidade, não fraqueza.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Fechar com transparência: dizer o que não faremos e por quê é decisão de produto, não omissão. Ponte para a demo ou para o slide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Fecho de 60s: três pilares, cada um ancorado em prova (o próprio case) + uma credencial pessoal. Não listar adjetivos — listar evidências. Terminar abrindo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8229600" y="4846320"/>
            <a:ext cx="3072384" cy="2176272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10149840" y="4206240"/>
            <a:ext cx="3840479" cy="2816352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412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300" b="1" i="0">
                <a:solidFill>
                  <a:srgbClr val="DFF25E"/>
                </a:solidFill>
                <a:latin typeface="Calibri"/>
              </a:rPr>
              <a:t>KAMINO · CASE PM SÊNIOR — PLATAFORMA FINANCEIRA CORE</a:t>
            </a:r>
          </a:p>
          <a:p>
            <a:pPr algn="l">
              <a:lnSpc>
                <a:spcPct val="102000"/>
              </a:lnSpc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Conciliação que constrói
</a:t>
            </a:r>
            <a:r>
              <a:rPr sz="4400" b="1" i="0">
                <a:solidFill>
                  <a:srgbClr val="DFF25E"/>
                </a:solidFill>
                <a:latin typeface="Calibri"/>
              </a:rPr>
              <a:t>confiança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9D8E8"/>
                </a:solidFill>
                <a:latin typeface="Calibri"/>
              </a:rPr>
              <a:t>Do discovery ao protótipo agêntico: tese de produto e plano de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Cliente-referência: Acme Serviços · Julho 2026 · Entregáveis: protótipo funcional + racional + apresentação</a:t>
            </a:r>
          </a:p>
        </p:txBody>
      </p:sp>
      <p:sp>
        <p:nvSpPr>
          <p:cNvPr id="6" name="Oval 5"/>
          <p:cNvSpPr/>
          <p:nvPr/>
        </p:nvSpPr>
        <p:spPr>
          <a:xfrm>
            <a:off x="9418320" y="1280160"/>
            <a:ext cx="1280160" cy="128016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200" b="1">
                <a:solidFill>
                  <a:srgbClr val="0D2333"/>
                </a:solidFill>
                <a:latin typeface="Calibri"/>
              </a:rPr>
              <a:t>✓</a:t>
            </a:r>
          </a:p>
        </p:txBody>
      </p:sp>
      <p:sp>
        <p:nvSpPr>
          <p:cNvPr id="7" name="Oval 6"/>
          <p:cNvSpPr/>
          <p:nvPr/>
        </p:nvSpPr>
        <p:spPr>
          <a:xfrm>
            <a:off x="10561320" y="2377440"/>
            <a:ext cx="868680" cy="86868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DFF25E"/>
                </a:solidFill>
                <a:latin typeface="Calibri"/>
              </a:rPr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9281160" y="2880360"/>
            <a:ext cx="685800" cy="68580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C9D8E8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3749039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C9D8E8"/>
                </a:solidFill>
                <a:latin typeface="Calibri"/>
              </a:rPr>
              <a:t>age · sugere · escala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APRESENTAÇÃO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Quem está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do outro lado</a:t>
            </a:r>
            <a:r>
              <a:rPr sz="3000" b="1" i="0">
                <a:solidFill>
                  <a:srgbClr val="112A3D"/>
                </a:solidFill>
                <a:latin typeface="Calibri"/>
              </a:rPr>
              <a:t> da mesa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4206240" cy="42062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35661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[SEU NOME]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FF25E"/>
                </a:solidFill>
                <a:latin typeface="Calibri"/>
              </a:rPr>
              <a:t>[Cargo atual · empresa]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 i="0">
                <a:solidFill>
                  <a:srgbClr val="C9D8E8"/>
                </a:solidFill>
                <a:latin typeface="Calibri"/>
              </a:rPr>
              <a:t>[Tagline em 1 linha: ex. “PM de plataformas financeiras há X anos, do discovery ao rollout.”]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9D8E8"/>
                </a:solidFill>
                <a:latin typeface="Calibri"/>
              </a:rPr>
              <a:t>[Cidade] · [LinkedIn]</a:t>
            </a:r>
          </a:p>
        </p:txBody>
      </p:sp>
      <p:sp>
        <p:nvSpPr>
          <p:cNvPr id="5" name="Oval 4"/>
          <p:cNvSpPr/>
          <p:nvPr/>
        </p:nvSpPr>
        <p:spPr>
          <a:xfrm>
            <a:off x="5212080" y="1828800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783080"/>
            <a:ext cx="58064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Trajetória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112A3D"/>
                </a:solidFill>
                <a:latin typeface="Calibri"/>
              </a:rPr>
              <a:t>[X anos de produto; domínios: ex. fintech, ERP, pagamentos, B2B SaaS. 1 linha por passagem relevante.]</a:t>
            </a:r>
          </a:p>
        </p:txBody>
      </p:sp>
      <p:sp>
        <p:nvSpPr>
          <p:cNvPr id="7" name="Oval 6"/>
          <p:cNvSpPr/>
          <p:nvPr/>
        </p:nvSpPr>
        <p:spPr>
          <a:xfrm>
            <a:off x="5212080" y="3218687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3172968"/>
            <a:ext cx="58064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Resultados que carrego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112A3D"/>
                </a:solidFill>
                <a:latin typeface="Calibri"/>
              </a:rPr>
              <a:t>[2–3 conquistas quantificadas: ex. “levei o produto X de 0 a Y clientes”, “reduzi churn/tempo de Z em N%”.]</a:t>
            </a:r>
          </a:p>
        </p:txBody>
      </p:sp>
      <p:sp>
        <p:nvSpPr>
          <p:cNvPr id="9" name="Oval 8"/>
          <p:cNvSpPr/>
          <p:nvPr/>
        </p:nvSpPr>
        <p:spPr>
          <a:xfrm>
            <a:off x="5212080" y="4608576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4562856"/>
            <a:ext cx="58064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Como eu trabalho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112A3D"/>
                </a:solidFill>
                <a:latin typeface="Calibri"/>
              </a:rPr>
              <a:t>[Ex.: decisões escritas e rastreáveis, colaboração próxima com engenharia, IA como método de trabalho — este material é a prova.]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O PROBLEMA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O pedido é simples.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O problema, não.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120640" cy="393192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43891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1" i="1">
                <a:solidFill>
                  <a:srgbClr val="FFFFFF"/>
                </a:solidFill>
                <a:latin typeface="Calibri"/>
              </a:rPr>
              <a:t>“Quero abrir a plataforma e </a:t>
            </a:r>
            <a:r>
              <a:rPr sz="2000" b="1" i="1">
                <a:solidFill>
                  <a:srgbClr val="DFF25E"/>
                </a:solidFill>
                <a:latin typeface="Calibri"/>
              </a:rPr>
              <a:t>confiar no meu saldo</a:t>
            </a:r>
            <a:r>
              <a:rPr sz="2000" b="1" i="1">
                <a:solidFill>
                  <a:srgbClr val="FFFFFF"/>
                </a:solidFill>
                <a:latin typeface="Calibri"/>
              </a:rPr>
              <a:t>, sem passar horas conferindo.”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Dona da Acme Serviços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Empresa de serviços · ~120 funcionários · mais de uma conta bancária · fecha o caixa exportando extratos e batendo no Excel</a:t>
            </a:r>
          </a:p>
        </p:txBody>
      </p:sp>
      <p:sp>
        <p:nvSpPr>
          <p:cNvPr id="5" name="Oval 4"/>
          <p:cNvSpPr/>
          <p:nvPr/>
        </p:nvSpPr>
        <p:spPr>
          <a:xfrm>
            <a:off x="6126480" y="1746504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691640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Dor aparente: tempo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12A3D"/>
                </a:solidFill>
                <a:latin typeface="Calibri"/>
              </a:rPr>
              <a:t>Horas exportando extratos e batendo linha a linha na planilha, todo fechamento.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3099816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044952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Dor real: confiança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12A3D"/>
                </a:solidFill>
                <a:latin typeface="Calibri"/>
              </a:rPr>
              <a:t>Ela só confia no saldo porque ela mesma conferiu. O Excel não é a ferramenta — é o mecanismo de confiança dela.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4453128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398264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Implicação de produto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12A3D"/>
                </a:solidFill>
                <a:latin typeface="Calibri"/>
              </a:rPr>
              <a:t>Automação que esconde o trabalho destrói a confiança em vez de transferi-la. A plataforma deve tornar a conferência verificável em segundos.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CONTEXTO DE MERCADO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A dor é estrutural — e o mercado já apontou a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direção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DFF25E"/>
                </a:solidFill>
                <a:latin typeface="Calibri"/>
              </a:rPr>
              <a:t>8–12h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por semana gastas em conciliação manual por um profissional qualificado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39312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DFF25E"/>
                </a:solidFill>
                <a:latin typeface="Calibri"/>
              </a:rPr>
              <a:t>9 de 10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PMEs brasileiras ainda conciliam com extrato + planilha auxiliar, na mão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3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1383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DFF25E"/>
                </a:solidFill>
                <a:latin typeface="Calibri"/>
              </a:rPr>
              <a:t>48%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das MPEs que fecham citam falta de planejamento financeiro e controle de caixa (Sebrae)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34855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63455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DFF25E"/>
                </a:solidFill>
                <a:latin typeface="Calibri"/>
              </a:rPr>
              <a:t>60%+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das tarefas de fechamento já são automatizáveis com agentes (benchmark HighRadius)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11091672" cy="169164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315968"/>
            <a:ext cx="10424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O benchmark global (BlackLine, HighRadius, Ramp): auto-match com score de confiança e trilha de auditoria — o humano decide no lançamento, não no matching.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2A3D"/>
                </a:solidFill>
                <a:latin typeface="Calibri"/>
              </a:rPr>
              <a:t>É a fronteira que a Kamino pode levar ao médio mercado brasileiro — com a vantagem única do banco integrado à plataforma.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E7182"/>
                </a:solidFill>
                <a:latin typeface="Calibri"/>
              </a:rPr>
              <a:t>Fontes: BFinance (2025), Sebrae, HighRadius. Números de mercado usados como referência direcional, não como medição própria.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A DOR NO FLUXO DE HOJE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Quatro passos que consomem o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fechamento</a:t>
            </a:r>
            <a:r>
              <a:rPr sz="3000" b="1" i="0">
                <a:solidFill>
                  <a:srgbClr val="112A3D"/>
                </a:solidFill>
                <a:latin typeface="Calibri"/>
              </a:rPr>
              <a:t> da Acme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724912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2333"/>
                </a:solidFill>
                <a:latin typeface="Calibri"/>
              </a:rPr>
              <a:t>Exportar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12A3D"/>
                </a:solidFill>
                <a:latin typeface="Calibri"/>
              </a:rPr>
              <a:t>Baixa extratos de cada banco, em PDF ou Excel, conta 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737360"/>
            <a:ext cx="2724912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39312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9312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2333"/>
                </a:solidFill>
                <a:latin typeface="Calibri"/>
              </a:rPr>
              <a:t>Bater na planilha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12A3D"/>
                </a:solidFill>
                <a:latin typeface="Calibri"/>
              </a:rPr>
              <a:t>Ctrl+F, olho treinado e fórmulas quebradas: linha a linha contra os lançamentos.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3" y="1737360"/>
            <a:ext cx="2724912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01383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3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2333"/>
                </a:solidFill>
                <a:latin typeface="Calibri"/>
              </a:rPr>
              <a:t>Tratar exceções no escuro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12A3D"/>
                </a:solidFill>
                <a:latin typeface="Calibri"/>
              </a:rPr>
              <a:t>Lote, pagamento parcial, retenção de imposto e tarifa não têm apoio — viram investigação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5" y="1737360"/>
            <a:ext cx="2724912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63455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3455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2333"/>
                </a:solidFill>
                <a:latin typeface="Calibri"/>
              </a:rPr>
              <a:t>Fechar sem confiar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12A3D"/>
                </a:solidFill>
                <a:latin typeface="Calibri"/>
              </a:rPr>
              <a:t>O caixa “fecha”, mas ninguém confia no número. A conferência recomeça no mês seguinte.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48072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DFF25E"/>
                </a:solidFill>
                <a:latin typeface="Calibri"/>
              </a:rPr>
              <a:t>Custo real: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horas de analista + decisões de caixa tomadas sobre um saldo incerto. A exceção — não o caso 1:1 — é onde o tempo e a confiança se perdem.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PERSONAS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Duas personas, dois modos —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uma mesma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5E7182"/>
                </a:solidFill>
                <a:latin typeface="Calibri"/>
              </a:rPr>
              <a:t>A DONA (decisora)</a:t>
            </a:r>
          </a:p>
          <a:p>
            <a:pPr algn="l">
              <a:spcAft>
                <a:spcPts val="1200"/>
              </a:spcAft>
            </a:pPr>
            <a:r>
              <a:rPr sz="1600" b="1" i="1">
                <a:solidFill>
                  <a:srgbClr val="0D2333"/>
                </a:solidFill>
                <a:latin typeface="Calibri"/>
              </a:rPr>
              <a:t>“Abrir e confiar no saldo em 30 segundos.”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sz="1250" b="0" i="0">
                <a:solidFill>
                  <a:srgbClr val="112A3D"/>
                </a:solidFill>
                <a:latin typeface="Calibri"/>
              </a:rPr>
              <a:t>Briefing do agente + chat: pergunta em linguagem natural, delega, cobra explicação.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sz="1250" b="0" i="0">
                <a:solidFill>
                  <a:srgbClr val="112A3D"/>
                </a:solidFill>
                <a:latin typeface="Calibri"/>
              </a:rPr>
              <a:t>Início do dia e fechamento do mês; aprova exceções de valor alto.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D2333"/>
                </a:solidFill>
                <a:latin typeface="Calibri"/>
              </a:rPr>
              <a:t>O que a convence — </a:t>
            </a:r>
            <a:r>
              <a:rPr sz="1250" b="0" i="0">
                <a:solidFill>
                  <a:srgbClr val="112A3D"/>
                </a:solidFill>
                <a:latin typeface="Calibri"/>
              </a:rPr>
              <a:t>Evidência a 1 clique e pendências explicadas — não um número seco.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59" y="1874519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5E7182"/>
                </a:solidFill>
                <a:latin typeface="Calibri"/>
              </a:rPr>
              <a:t>O ANALISTA FINANCEIRO</a:t>
            </a:r>
          </a:p>
          <a:p>
            <a:pPr algn="l">
              <a:spcAft>
                <a:spcPts val="1200"/>
              </a:spcAft>
            </a:pPr>
            <a:r>
              <a:rPr sz="1600" b="1" i="1">
                <a:solidFill>
                  <a:srgbClr val="0D2333"/>
                </a:solidFill>
                <a:latin typeface="Calibri"/>
              </a:rPr>
              <a:t>“Zerar a fila de pendências do dia.”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sz="1250" b="0" i="0">
                <a:solidFill>
                  <a:srgbClr val="112A3D"/>
                </a:solidFill>
                <a:latin typeface="Calibri"/>
              </a:rPr>
              <a:t>Workspace com fila e ações em massa; chat para destravar casos ambíguos.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sz="1250" b="0" i="0">
                <a:solidFill>
                  <a:srgbClr val="112A3D"/>
                </a:solidFill>
                <a:latin typeface="Calibri"/>
              </a:rPr>
              <a:t>Rotina diária de conciliação; prepara o fechamento para a dona.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0D2333"/>
                </a:solidFill>
                <a:latin typeface="Calibri"/>
              </a:rPr>
              <a:t>O que o convence — </a:t>
            </a:r>
            <a:r>
              <a:rPr sz="1250" b="0" i="0">
                <a:solidFill>
                  <a:srgbClr val="112A3D"/>
                </a:solidFill>
                <a:latin typeface="Calibri"/>
              </a:rPr>
              <a:t>Produtividade: revisar em paralelo, agir em lote, desfazer sem medo.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5E7182"/>
                </a:solidFill>
                <a:latin typeface="Calibri"/>
              </a:rPr>
              <a:t>Hipótese assumida (sinalizada no material): </a:t>
            </a:r>
            <a:r>
              <a:rPr sz="1250" b="0" i="0">
                <a:solidFill>
                  <a:srgbClr val="5E7182"/>
                </a:solidFill>
                <a:latin typeface="Calibri"/>
              </a:rPr>
              <a:t>com 120 funcionários, a dona não concilia linha a linha — existe um financeiro operando. A experiência precisa servir aos dois sem duplicar produto.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PRINCÍPIOS DE PRODUTO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Cinco princípios — cada um vira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decisão visível</a:t>
            </a:r>
            <a:r>
              <a:rPr sz="3000" b="1" i="0">
                <a:solidFill>
                  <a:srgbClr val="112A3D"/>
                </a:solidFill>
                <a:latin typeface="Calibri"/>
              </a:rPr>
              <a:t> no protótipo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Confiança se mostra, não se pede  —  </a:t>
            </a:r>
            <a:r>
              <a:rPr sz="1350" b="0" i="0">
                <a:solidFill>
                  <a:srgbClr val="112A3D"/>
                </a:solidFill>
                <a:latin typeface="Calibri"/>
              </a:rPr>
              <a:t>Toda conciliação automática exibe a evidência (valor, data, contraparte) a 1 clique.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78608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Incerteza é informação, não falha  —  </a:t>
            </a:r>
            <a:r>
              <a:rPr sz="1350" b="0" i="0">
                <a:solidFill>
                  <a:srgbClr val="112A3D"/>
                </a:solidFill>
                <a:latin typeface="Calibri"/>
              </a:rPr>
              <a:t>O agente diz “85% de confiança, porque X e Y”. Nunca finge certeza.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538728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511296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Nada é irreversível  —  </a:t>
            </a:r>
            <a:r>
              <a:rPr sz="1350" b="0" i="0">
                <a:solidFill>
                  <a:srgbClr val="112A3D"/>
                </a:solidFill>
                <a:latin typeface="Calibri"/>
              </a:rPr>
              <a:t>Toda ação tem desfazer e trilha de auditoria: quem, quando, com que evidência.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71416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443984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IA não cria fato financeiro sozinha  —  </a:t>
            </a:r>
            <a:r>
              <a:rPr sz="1350" b="0" i="0">
                <a:solidFill>
                  <a:srgbClr val="112A3D"/>
                </a:solidFill>
                <a:latin typeface="Calibri"/>
              </a:rPr>
              <a:t>Conciliar 1:1 exato, sim. Criar lançamento (tarifa, imposto), só com confirmação humana.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404104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376672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O saldo confiável é o produto  —  </a:t>
            </a:r>
            <a:r>
              <a:rPr sz="1350" b="0" i="0">
                <a:solidFill>
                  <a:srgbClr val="112A3D"/>
                </a:solidFill>
                <a:latin typeface="Calibri"/>
              </a:rPr>
              <a:t>A métrica-mãe da tela: % do extrato explicado e o que falta para 100%.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O CONCEITO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Fechamento assistido por agente: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chat protagonista</a:t>
            </a:r>
            <a:r>
              <a:rPr sz="3000" b="1" i="0">
                <a:solidFill>
                  <a:srgbClr val="112A3D"/>
                </a:solidFill>
                <a:latin typeface="Calibri"/>
              </a:rPr>
              <a:t>, UI de apoio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D2333"/>
                </a:solidFill>
                <a:latin typeface="Calibri"/>
              </a:rPr>
              <a:t>Intenção em linguagem natural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12A3D"/>
                </a:solidFill>
                <a:latin typeface="Calibri"/>
              </a:rPr>
              <a:t>“Mostra o lote”, “por que é retenção?”, “concilia o que for ≥ 90%”. O chat captura a intenção — sem caçar menu.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61488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D2333"/>
                </a:solidFill>
                <a:latin typeface="Calibri"/>
              </a:rPr>
              <a:t>Respostas em UI generativa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12A3D"/>
                </a:solidFill>
                <a:latin typeface="Calibri"/>
              </a:rPr>
              <a:t>Cards de sugestão, tabelas de lote e botões de ação renderizados na conversa — não texto corrido.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77056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D2333"/>
                </a:solidFill>
                <a:latin typeface="Calibri"/>
              </a:rPr>
              <a:t>Estado persistente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12A3D"/>
                </a:solidFill>
                <a:latin typeface="Calibri"/>
              </a:rPr>
              <a:t>4 saldos sempre visíveis: banco, interno, conciliado e pendências. Confiança não mora em bolha de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92624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D2333"/>
                </a:solidFill>
                <a:latin typeface="Calibri"/>
              </a:rPr>
              <a:t>Auditável e reversível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12A3D"/>
                </a:solidFill>
                <a:latin typeface="Calibri"/>
              </a:rPr>
              <a:t>Texto, voz ou clique — toda ação vira evento estruturado com autor, evidência e desfazer.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00200"/>
            <a:ext cx="4937760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D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0" y="1783080"/>
            <a:ext cx="4572000" cy="566928"/>
          </a:xfrm>
          <a:prstGeom prst="roundRect">
            <a:avLst>
              <a:gd name="adj" fmla="val 15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67728" y="1883664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DFF25E"/>
                </a:solidFill>
                <a:latin typeface="Calibri"/>
              </a:rPr>
              <a:t>Banco 12.305  ·  Interno 11.700  ·  Conciliado 92%  ·  Pendências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14600"/>
            <a:ext cx="23317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95160" y="269748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277063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112A3D"/>
                </a:solidFill>
                <a:latin typeface="Calibri"/>
              </a:rPr>
              <a:t>Conciliei 2 de 7 automaticamente. Tenho 4 sugestões.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6118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52360" y="370332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mostra o lote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20624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4279392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 i="0">
                <a:solidFill>
                  <a:srgbClr val="112A3D"/>
                </a:solidFill>
                <a:latin typeface="Calibri"/>
              </a:rPr>
              <a:t>LOTE 3382 · R$ 4.500 = 3 títulos Beta  [Conciliar] [Detalhar]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4406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 i="1">
                <a:solidFill>
                  <a:srgbClr val="5E7182"/>
                </a:solidFill>
                <a:latin typeface="Calibri"/>
              </a:rPr>
              <a:t>chat + cards de 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51460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0D2333"/>
                </a:solidFill>
                <a:latin typeface="Calibri"/>
              </a:rPr>
              <a:t>PENDÊNCIAS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297180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30632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112A3D"/>
                </a:solidFill>
                <a:latin typeface="Calibri"/>
              </a:rPr>
              <a:t>Retenção Gama · sugerido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648456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3739896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112A3D"/>
                </a:solidFill>
                <a:latin typeface="Calibri"/>
              </a:rPr>
              <a:t>Parcial Delta · sugerido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325112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55480" y="441655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112A3D"/>
                </a:solidFill>
                <a:latin typeface="Calibri"/>
              </a:rPr>
              <a:t>Tarifa R$ 45 · criar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5001768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509320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112A3D"/>
                </a:solidFill>
                <a:latin typeface="Calibri"/>
              </a:rPr>
              <a:t>CR Sigma · sem mov.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70585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 i="1">
                <a:solidFill>
                  <a:srgbClr val="5E7182"/>
                </a:solidFill>
                <a:latin typeface="Calibri"/>
              </a:rPr>
              <a:t>fila do analista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OS DADOS DO CASE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O Apêndice A já conta a história —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7 situações</a:t>
            </a:r>
            <a:r>
              <a:rPr sz="3000" b="1" i="0">
                <a:solidFill>
                  <a:srgbClr val="112A3D"/>
                </a:solidFill>
                <a:latin typeface="Calibri"/>
              </a:rPr>
              <a:t>, 3 níveis de autonomia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FF25E"/>
                          </a:solidFill>
                          <a:latin typeface="Calibri"/>
                        </a:rPr>
                        <a:t>Extrato (jun)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FF25E"/>
                          </a:solidFill>
                          <a:latin typeface="Calibri"/>
                        </a:rPr>
                        <a:t>Correspondência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FF25E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FF25E"/>
                          </a:solidFill>
                          <a:latin typeface="Calibri"/>
                        </a:rPr>
                        <a:t>Ação do agente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05/06 · −3.200 · ALFA TEC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CP-001 (3.200)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09/06 · +4.200 · OMEGA VAREJO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CR-002 (4.200)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08/06 · +6.000 · JOAO P DA SILVA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CR-001 · Consultoria Silva 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Divergência de nome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Sugere: valor+data batem; nome ≈ sócio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10/06 · −4.500 · LOTE 3382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CP-002+003+004 (3 × 1.500)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Pagamento em lote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Sugere agrupamento: soma exata, mesma contraparte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12/06 · −9.350 · GAMA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CP-005 (10.000)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Retenção de imposto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Sugere: 650 = ISS 5% + IRRF 1,5% — confirma antes de lançar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15/06 · −5.000 · DELTA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CP-006 (8.000)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Pagamento parcial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Sugere baixa parcial; mantém 3.000 em aberto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14/06 · −45 · TARIFA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— (sem lançamento)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Tarifa bancária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A3D"/>
                          </a:solidFill>
                          <a:latin typeface="Calibri"/>
                        </a:rPr>
                        <a:t>Propõe criar despesa; humano confirma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349240"/>
            <a:ext cx="11091672" cy="114300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5321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DFF25E"/>
                </a:solidFill>
                <a:latin typeface="Calibri"/>
              </a:rPr>
              <a:t>O 7º caso está escondido: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CR-003 (Sigma, R$ 2.500, venc. 20/06) não tem linha no extrato. Não é erro de matching — é recebimento em atraso, e o agente o destaca porque afeta o saldo previsto.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USO DE IA COM JULGAMENTO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Autonomia proporcional ao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risco financeiro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828800"/>
            <a:ext cx="31089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0D2333"/>
                </a:solidFill>
                <a:latin typeface="Calibri"/>
              </a:rPr>
              <a:t>AGE SOZINHA</a:t>
            </a:r>
          </a:p>
          <a:p>
            <a:pPr algn="l">
              <a:spcAft>
                <a:spcPts val="1000"/>
              </a:spcAft>
            </a:pPr>
            <a:r>
              <a:rPr sz="1200" b="0" i="1">
                <a:solidFill>
                  <a:srgbClr val="0D2333"/>
                </a:solidFill>
                <a:latin typeface="Calibri"/>
              </a:rPr>
              <a:t>Risco baixíssimo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 i="0">
                <a:solidFill>
                  <a:srgbClr val="0D2333"/>
                </a:solidFill>
                <a:latin typeface="Calibri"/>
              </a:rPr>
              <a:t>•  Correspondência exata de valor + data próxima + contraparte compatível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 i="0">
                <a:solidFill>
                  <a:srgbClr val="0D2333"/>
                </a:solidFill>
                <a:latin typeface="Calibri"/>
              </a:rPr>
              <a:t>•  Casos do case: Alfa (CP-001) e Ômega (CR-002)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 i="0">
                <a:solidFill>
                  <a:srgbClr val="0D2333"/>
                </a:solidFill>
                <a:latin typeface="Calibri"/>
              </a:rPr>
              <a:t>•  Sempre com evidência anexada e desfazer a 1 clique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9392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53712" y="1828800"/>
            <a:ext cx="31089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SUGERE E PEDE CONFIRMAÇÃO</a:t>
            </a:r>
          </a:p>
          <a:p>
            <a:pPr algn="l">
              <a:spcAft>
                <a:spcPts val="1000"/>
              </a:spcAft>
            </a:pPr>
            <a:r>
              <a:rPr sz="1200" b="0" i="1">
                <a:solidFill>
                  <a:srgbClr val="FFFFFF"/>
                </a:solidFill>
                <a:latin typeface="Calibri"/>
              </a:rPr>
              <a:t>Ambiguidade controlada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Nome divergente, lote, retenção provável, pagamento parcial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Score de confiança explicado: quais evidências sustentam a hipótese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•  Humano confirma em 1 clique; edição fácil se discordar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84464" y="1828800"/>
            <a:ext cx="31089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C9D8E8"/>
                </a:solidFill>
                <a:latin typeface="Calibri"/>
              </a:rPr>
              <a:t>ESCALA PARA O HUMANO</a:t>
            </a:r>
          </a:p>
          <a:p>
            <a:pPr algn="l">
              <a:spcAft>
                <a:spcPts val="1000"/>
              </a:spcAft>
            </a:pPr>
            <a:r>
              <a:rPr sz="1200" b="0" i="1">
                <a:solidFill>
                  <a:srgbClr val="C9D8E8"/>
                </a:solidFill>
                <a:latin typeface="Calibri"/>
              </a:rPr>
              <a:t>Risco financeiro real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•  Criação/alteração de lançamento (tarifa, imposto), múltiplas hipóteses plausíveis, valor alto ou baixa confiança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•  O agente prepara o contexto e as opções; o humano decide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•  Nada de baixa automática irreversível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D2333"/>
                </a:solidFill>
                <a:latin typeface="Calibri"/>
              </a:rPr>
              <a:t>Regra de ouro: </a:t>
            </a:r>
            <a:r>
              <a:rPr sz="1300" b="0" i="0">
                <a:solidFill>
                  <a:srgbClr val="112A3D"/>
                </a:solidFill>
                <a:latin typeface="Calibri"/>
              </a:rPr>
              <a:t>a IA nunca cria fato financeiro sem confirmação humana — ela prepara a decisão. Autonomia se ganha com histórico (regras aprendidas ficam para a evolução, não para a v1).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PLANO DE ENTREGA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Como eu tocaria na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vida real</a:t>
            </a:r>
            <a:r>
              <a:rPr sz="3000" b="1" i="0">
                <a:solidFill>
                  <a:srgbClr val="112A3D"/>
                </a:solidFill>
                <a:latin typeface="Calibri"/>
              </a:rPr>
              <a:t>: esforço, capacity e prazo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9808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59152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0D2333"/>
                </a:solidFill>
                <a:latin typeface="Calibri"/>
              </a:rPr>
              <a:t>Discovery + design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E7182"/>
                </a:solidFill>
                <a:latin typeface="Calibri"/>
              </a:rPr>
              <a:t>3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12A3D"/>
                </a:solidFill>
                <a:latin typeface="Calibri"/>
              </a:rPr>
              <a:t>Spikes de matching com dados reais de clientes; protótipo validado com 5 clientes; corte de escopo do 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3784" y="160020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044952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4952" y="2359152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0D2333"/>
                </a:solidFill>
                <a:latin typeface="Calibri"/>
              </a:rPr>
              <a:t>Build do MVP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E7182"/>
                </a:solidFill>
                <a:latin typeface="Calibri"/>
              </a:rPr>
              <a:t>8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12A3D"/>
                </a:solidFill>
                <a:latin typeface="Calibri"/>
              </a:rPr>
              <a:t>Motor de conciliação + trilha de auditoria + agente com UI generativa; hardening e permissões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7" y="160020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40095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095" y="2359152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0D2333"/>
                </a:solidFill>
                <a:latin typeface="Calibri"/>
              </a:rPr>
              <a:t>Piloto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E7182"/>
                </a:solidFill>
                <a:latin typeface="Calibri"/>
              </a:rPr>
              <a:t>6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12A3D"/>
                </a:solidFill>
                <a:latin typeface="Calibri"/>
              </a:rPr>
              <a:t>5–10 clientes perfil Acme, 2 ciclos reais de fechamento; CS junto; critérios de saída definidos 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4071" y="160020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35240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359152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0D2333"/>
                </a:solidFill>
                <a:latin typeface="Calibri"/>
              </a:rPr>
              <a:t>Rollout controlado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E7182"/>
                </a:solidFill>
                <a:latin typeface="Calibri"/>
              </a:rPr>
              <a:t>8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12A3D"/>
                </a:solidFill>
                <a:latin typeface="Calibri"/>
              </a:rPr>
              <a:t>Coortes por perfil, feature flag, régua de progressão por KPI; rollback pronto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9215" y="160020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30384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0384" y="2359152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0D2333"/>
                </a:solidFill>
                <a:latin typeface="Calibri"/>
              </a:rPr>
              <a:t>GA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E7182"/>
                </a:solidFill>
                <a:latin typeface="Calibri"/>
              </a:rPr>
              <a:t>—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12A3D"/>
                </a:solidFill>
                <a:latin typeface="Calibri"/>
              </a:rPr>
              <a:t>Disponível para a base; inicia evolução: regras aprendidas, multi-conta, ações em massa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6766560" cy="160020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61264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SQUAD (CAPACITY)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1 PM · 1 Product Designer · 1 Tech Lead + 3 eng (2 back, 1 front) · 1 eng de dados/ML em tempo parcial · CX/CS dedicados no piloto  ≈  6,5 FTEs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DFF25E"/>
                </a:solidFill>
                <a:latin typeface="Calibri"/>
              </a:rPr>
              <a:t>~6 meses do kickoff ao GA, perfeitamente funcional — não um MVP capenga.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754880"/>
            <a:ext cx="4142232" cy="160020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18120" y="4956048"/>
            <a:ext cx="35204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D2333"/>
                </a:solidFill>
                <a:latin typeface="Calibri"/>
              </a:rPr>
              <a:t>PREMISSAS DA ESTIMATIVA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Estimativa de partida, calibrada em planning com engenharia. Assume extrato já integrado (banco próprio + Open Finance) e aproveita o motor de lote/Sispag existente.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DO CASE AO PRODUTO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Faseamento de entrega e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KPIs</a:t>
            </a:r>
            <a:r>
              <a:rPr sz="3000" b="1" i="0">
                <a:solidFill>
                  <a:srgbClr val="112A3D"/>
                </a:solidFill>
                <a:latin typeface="Calibri"/>
              </a:rPr>
              <a:t> de sucesso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92224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D2333"/>
                </a:solidFill>
                <a:latin typeface="Calibri"/>
              </a:rPr>
              <a:t>MVP → PILOTO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112A3D"/>
                </a:solidFill>
                <a:latin typeface="Calibri"/>
              </a:rPr>
              <a:t>Conciliação de 1 conta: matching automático 1:1, sugestões explicadas para os 5 tipos de exceção, auditoria e desfazer. Piloto com 5–10 clientes perfil Acme, 2 ciclos reais de fechamento.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72384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218688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D2333"/>
                </a:solidFill>
                <a:latin typeface="Calibri"/>
              </a:rPr>
              <a:t>ROLLOUT CONTROLADO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112A3D"/>
                </a:solidFill>
                <a:latin typeface="Calibri"/>
              </a:rPr>
              <a:t>Coortes por perfil de cliente, atrás de feature flag. Cada coorte só avança se os KPIs ao lado segurarem; rollback pronto e comunicação via 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98848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645152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D2333"/>
                </a:solidFill>
                <a:latin typeface="Calibri"/>
              </a:rPr>
              <a:t>GA / EVOLUÇÃO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112A3D"/>
                </a:solidFill>
                <a:latin typeface="Calibri"/>
              </a:rPr>
              <a:t>Multi-conta, ações em massa via chat, regras aprendidas (ex.: tarifa recorrente), importação automática via banco integrado.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45920"/>
          <a:ext cx="52395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DFF25E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DFF25E"/>
                          </a:solidFill>
                          <a:latin typeface="Calibri"/>
                        </a:rPr>
                        <a:t>Meta (piloto)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12A3D"/>
                          </a:solidFill>
                          <a:latin typeface="Calibri"/>
                        </a:rPr>
                        <a:t>% de linhas do extrato conciliadas sem toque humano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2333"/>
                          </a:solidFill>
                          <a:latin typeface="Calibri"/>
                        </a:rPr>
                        <a:t>≥ 60%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12A3D"/>
                          </a:solidFill>
                          <a:latin typeface="Calibri"/>
                        </a:rPr>
                        <a:t>Tempo de fechamento mensal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2333"/>
                          </a:solidFill>
                          <a:latin typeface="Calibri"/>
                        </a:rPr>
                        <a:t>de horas p/ &lt; 30 min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12A3D"/>
                          </a:solidFill>
                          <a:latin typeface="Calibri"/>
                        </a:rPr>
                        <a:t>% de sugestões aceitas sem edição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2333"/>
                          </a:solidFill>
                          <a:latin typeface="Calibri"/>
                        </a:rPr>
                        <a:t>≥ 80%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12A3D"/>
                          </a:solidFill>
                          <a:latin typeface="Calibri"/>
                        </a:rPr>
                        <a:t>Taxa de reversão de conciliações (proxy de confiança)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2333"/>
                          </a:solidFill>
                          <a:latin typeface="Calibri"/>
                        </a:rPr>
                        <a:t>&lt; 2%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12A3D"/>
                          </a:solidFill>
                          <a:latin typeface="Calibri"/>
                        </a:rPr>
                        <a:t>% do extrato explicado (métrica-mãe do usuário)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2333"/>
                          </a:solidFill>
                          <a:latin typeface="Calibri"/>
                        </a:rPr>
                        <a:t>100% ao fechar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 dirty="0">
                <a:solidFill>
                  <a:srgbClr val="5E7182"/>
                </a:solidFill>
                <a:latin typeface="Calibri"/>
              </a:rPr>
              <a:t>Metas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são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hipóteses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de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partida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—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calibradas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no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piloto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com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engenharia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e CS,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não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prometidas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antes de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medir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. São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elas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que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autorizam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cada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5E7182"/>
                </a:solidFill>
                <a:latin typeface="Calibri"/>
              </a:rPr>
              <a:t>coorte</a:t>
            </a:r>
            <a:r>
              <a:rPr sz="1150" b="0" i="1" dirty="0">
                <a:solidFill>
                  <a:srgbClr val="5E7182"/>
                </a:solidFill>
                <a:latin typeface="Calibri"/>
              </a:rPr>
              <a:t> do rollout.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10241280" y="548640"/>
            <a:ext cx="1536192" cy="1088136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11201400" y="228600"/>
            <a:ext cx="1920239" cy="1408176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TRANSPARÊNCIA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Riscos assumidos — e o que fica </a:t>
            </a:r>
            <a:r>
              <a:rPr sz="3000" b="1" i="0">
                <a:solidFill>
                  <a:srgbClr val="DFF25E"/>
                </a:solidFill>
                <a:latin typeface="Calibri"/>
              </a:rPr>
              <a:t>de fora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 da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FF25E"/>
                </a:solidFill>
                <a:latin typeface="Calibri"/>
              </a:rPr>
              <a:t>RISCOS E MITIGAÇÕES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Chat serializa a revisão em massa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Mitigado por design: híbrido com fila persistente e ações em lote — o chat comanda, não aprisiona.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55848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Score de confiança errado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Reversibilidade total + lote auditável + taxa de reversão como KPI vigiado.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54296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Expectativa de “IA mágica”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Incerteza explícita na interface; o agente mostra evidências, não veredictos.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FF25E"/>
                </a:solidFill>
                <a:latin typeface="Calibri"/>
              </a:rPr>
              <a:t>FORA DA V1 — DE PROPÓSITO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Regras aprendidas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Automatizar tarifa recorrente só depois de confirmação repetida do usuário.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355848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Voz e importação OFX real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Mostradas como visão; não gastam o time-box.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654296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Multi-conta e multi-moeda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MVP prova valor em 1 conta antes de escalar complexidade.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9788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6053328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1350" b="1" dirty="0">
                <a:solidFill>
                  <a:srgbClr val="DFF25E"/>
                </a:solidFill>
              </a:rPr>
              <a:t>Tudo isso está funcionando na demo → </a:t>
            </a:r>
            <a:r>
              <a:rPr lang="pt-BR" sz="1350" dirty="0">
                <a:solidFill>
                  <a:srgbClr val="FFFFFF"/>
                </a:solidFill>
              </a:rPr>
              <a:t>protótipo navegável com os dados do case, </a:t>
            </a:r>
            <a:r>
              <a:rPr lang="pt-BR" sz="1350" dirty="0" err="1">
                <a:solidFill>
                  <a:srgbClr val="FFFFFF"/>
                </a:solidFill>
              </a:rPr>
              <a:t>reinicializável</a:t>
            </a:r>
            <a:r>
              <a:rPr lang="pt-BR" sz="1350" dirty="0">
                <a:solidFill>
                  <a:srgbClr val="FFFFFF"/>
                </a:solidFill>
              </a:rPr>
              <a:t> ao vivo.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9509760" y="4937760"/>
            <a:ext cx="2194560" cy="15544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10881360" y="4480560"/>
            <a:ext cx="2743200" cy="20116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POR QUE EU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 que eu entrego para a Kamino </a:t>
            </a:r>
            <a:r>
              <a:rPr sz="3000" b="1" i="0">
                <a:solidFill>
                  <a:srgbClr val="DFF25E"/>
                </a:solidFill>
                <a:latin typeface="Calibri"/>
              </a:rPr>
              <a:t>desde a semana 1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102412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DFF25E"/>
                </a:solidFill>
                <a:latin typeface="Calibri"/>
              </a:rPr>
              <a:t>Entrega end-to-end, comprovada aqui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C9D8E8"/>
                </a:solidFill>
                <a:latin typeface="Calibri"/>
              </a:rPr>
              <a:t>Este case foi conduzido como eu trabalho de verdade: discovery com dados de mercado, modelagem financeira antes de UI, protótipo funcional e plano de rollout — tudo em dias, não semanas. [Reforce com 1 entrega real sua de ponta a ponta.]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63240"/>
            <a:ext cx="102412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DFF25E"/>
                </a:solidFill>
                <a:latin typeface="Calibri"/>
              </a:rPr>
              <a:t>Julgamento em domínio financeiro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C9D8E8"/>
                </a:solidFill>
                <a:latin typeface="Calibri"/>
              </a:rPr>
              <a:t>Fronteira de IA desenhada por risco, não por hype: matching é reversível, lançamento contábil não. [Cite sua experiência em fintech/ERP/financeiro que sustenta esse julgamento.]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80559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434840"/>
            <a:ext cx="102412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DFF25E"/>
                </a:solidFill>
                <a:latin typeface="Calibri"/>
              </a:rPr>
              <a:t>IA como multiplicador de capacity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C9D8E8"/>
                </a:solidFill>
                <a:latin typeface="Calibri"/>
              </a:rPr>
              <a:t>Pesquisa, protótipo e este material foram construídos com IA sob critério — o mesmo método que aplico com o time: mais entregas com a mesma squad. [Ex. concreto seu de produtividade com IA.]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007608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DFF25E"/>
                </a:solidFill>
                <a:latin typeface="Calibri"/>
              </a:rPr>
              <a:t>Pronto para começar: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a primeira versão deste plano já está na mesa. Obrigado — e vamos às perguntas.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2659</Words>
  <Application>Microsoft Office PowerPoint</Application>
  <PresentationFormat>Widescreen</PresentationFormat>
  <Paragraphs>255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Bruce Bianchini Batista</cp:lastModifiedBy>
  <cp:revision>2</cp:revision>
  <dcterms:created xsi:type="dcterms:W3CDTF">2013-01-27T09:14:16Z</dcterms:created>
  <dcterms:modified xsi:type="dcterms:W3CDTF">2026-07-06T00:39:44Z</dcterms:modified>
  <cp:category/>
</cp:coreProperties>
</file>