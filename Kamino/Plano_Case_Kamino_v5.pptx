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8" r:id="rId3"/>
    <p:sldId id="257" r:id="rId4"/>
    <p:sldId id="259" r:id="rId5"/>
    <p:sldId id="258" r:id="rId6"/>
    <p:sldId id="260" r:id="rId7"/>
    <p:sldId id="261" r:id="rId8"/>
    <p:sldId id="262" r:id="rId9"/>
    <p:sldId id="263" r:id="rId10"/>
    <p:sldId id="274" r:id="rId23"/>
    <p:sldId id="275" r:id="rId24"/>
    <p:sldId id="264" r:id="rId13"/>
    <p:sldId id="269" r:id="rId14"/>
    <p:sldId id="266" r:id="rId15"/>
    <p:sldId id="273" r:id="rId22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C756"/>
    <a:srgbClr val="0320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4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82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6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5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0846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Abertura: o case não é sobre conciliar mais rápido, é sobre confiança no saldo. Os três círculos antecipam a tese da fronteira de IA: age, sugere, escala.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60–90 segundos, no máximo. A banca quer contexto, não currículo: quem é, o que já entregou, como trabalha. Fechar conectando com o case: 'e foi assim que ataquei o desafio de vocês'.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Decisão de framing: o problema é confiança, não velocidade. Isso orienta tudo: evidência visível, incerteza explícita, reversibilidade.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insight: o caso 1:1 nunca foi o problema. O custo está nas exceções — exatamente o que o Apêndice A do case testa.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Honestidade intelectual: dados direcionais de mercado, sinalizados como tal. O ponto-chave do benchmark: autonomia no matching, decisão humana no fato financeiro.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Defesa da hipótese: porte da empresa implica um operador financeiro. Chat serve à dona; fila serve ao analista; mesma engine de conciliação por trás.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Cada princípio é testável no protótipo: se a banca perguntar 'onde está o princípio 3?', mostro o desfazer e a trilha na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Esboço, não design final. A decisão defendida: chat comanda, mas o estado (saldos, fila) é persistente — responde às objeções de auditabilidade e revisão em massa.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Detalhe que diferencia: os R$ 650 batem exatamente com ISS 5% + IRRF 1,5%. A IA explica o porquê da hipótese fiscal e pede confirmação — nunca lança imposto sozinha.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Critério central da banca. Justificar por risco e corretude: matching errado é reversível; lançamento fiscal errado corrompe a contabilidade.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Ponto-chave: rollout controlado não é go-live big bang. Progressão por coorte condicionada aos KPIs do slide seguinte. A estimativa é hipótese de PM — quem cravaria é o planning com o tech lead.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KPIs conectam a métrica de negócio (tempo, adoção) com a métrica de confiança (taxa de reversão). Meta declarada como hipótese: maturidade, não fraqueza.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Fecho de 60s: três pilares, cada um ancorado em prova (o próprio case) + uma credencial pessoal. Não listar adjetivos — listar evidências. Terminar abrindo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1828800"/>
            <a:ext cx="841248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lang="pt-BR" sz="1300" b="1" i="0" noProof="0" dirty="0">
                <a:solidFill>
                  <a:srgbClr val="DFF25E"/>
                </a:solidFill>
                <a:latin typeface="Calibri"/>
              </a:rPr>
              <a:t>KAMINO · CASE PM SÊNIOR — PLATAFORMA FINANCEIRA CORE</a:t>
            </a:r>
          </a:p>
          <a:p>
            <a:pPr algn="l">
              <a:lnSpc>
                <a:spcPct val="102000"/>
              </a:lnSpc>
              <a:spcAft>
                <a:spcPts val="1400"/>
              </a:spcAft>
            </a:pPr>
            <a:r>
              <a:rPr lang="pt-BR" sz="4400" b="1" i="0" noProof="0" dirty="0">
                <a:solidFill>
                  <a:srgbClr val="FFFFFF"/>
                </a:solidFill>
                <a:latin typeface="Calibri"/>
              </a:rPr>
              <a:t>Conciliação que constrói
</a:t>
            </a:r>
            <a:r>
              <a:rPr lang="pt-BR" sz="4400" b="1" i="0" noProof="0" dirty="0">
                <a:solidFill>
                  <a:srgbClr val="DFF25E"/>
                </a:solidFill>
                <a:latin typeface="Calibri"/>
              </a:rPr>
              <a:t>confiança</a:t>
            </a:r>
          </a:p>
          <a:p>
            <a:pPr algn="l">
              <a:spcAft>
                <a:spcPts val="0"/>
              </a:spcAft>
            </a:pPr>
            <a:r>
              <a:rPr lang="pt-BR" sz="1800" b="0" i="0" noProof="0" dirty="0">
                <a:solidFill>
                  <a:srgbClr val="C9D8E8"/>
                </a:solidFill>
                <a:latin typeface="Calibri"/>
              </a:rPr>
              <a:t>Do </a:t>
            </a:r>
            <a:r>
              <a:rPr lang="pt-BR" sz="1800" b="0" i="0" noProof="0" dirty="0" err="1">
                <a:solidFill>
                  <a:srgbClr val="C9D8E8"/>
                </a:solidFill>
                <a:latin typeface="Calibri"/>
              </a:rPr>
              <a:t>discovery</a:t>
            </a:r>
            <a:r>
              <a:rPr lang="pt-BR" sz="1800" b="0" i="0" noProof="0" dirty="0">
                <a:solidFill>
                  <a:srgbClr val="C9D8E8"/>
                </a:solidFill>
                <a:latin typeface="Calibri"/>
              </a:rPr>
              <a:t> ao protótipo </a:t>
            </a:r>
            <a:r>
              <a:rPr lang="pt-BR" sz="1800" b="0" i="0" noProof="0" dirty="0" err="1">
                <a:solidFill>
                  <a:srgbClr val="C9D8E8"/>
                </a:solidFill>
                <a:latin typeface="Calibri"/>
              </a:rPr>
              <a:t>agêntico</a:t>
            </a:r>
            <a:r>
              <a:rPr lang="pt-BR" sz="1800" b="0" i="0" noProof="0" dirty="0">
                <a:solidFill>
                  <a:srgbClr val="C9D8E8"/>
                </a:solidFill>
                <a:latin typeface="Calibri"/>
              </a:rPr>
              <a:t>: tese de produto e plano de execução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1200" b="0" i="0" noProof="0" dirty="0">
                <a:solidFill>
                  <a:srgbClr val="C9D8E8"/>
                </a:solidFill>
                <a:latin typeface="Calibri"/>
              </a:rPr>
              <a:t>Cliente-referência: Acme Serviços · Julho 2026 · Entregáveis: protótipo funcional + racional + apresentação</a:t>
            </a:r>
          </a:p>
        </p:txBody>
      </p:sp>
      <p:sp>
        <p:nvSpPr>
          <p:cNvPr id="6" name="Oval 5"/>
          <p:cNvSpPr/>
          <p:nvPr/>
        </p:nvSpPr>
        <p:spPr>
          <a:xfrm>
            <a:off x="9144000" y="2240280"/>
            <a:ext cx="1280160" cy="1280160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3200" b="1" noProof="0" dirty="0">
                <a:solidFill>
                  <a:srgbClr val="0D2333"/>
                </a:solidFill>
                <a:latin typeface="Calibri"/>
              </a:rPr>
              <a:t>✓</a:t>
            </a:r>
          </a:p>
        </p:txBody>
      </p:sp>
      <p:sp>
        <p:nvSpPr>
          <p:cNvPr id="7" name="Oval 6"/>
          <p:cNvSpPr/>
          <p:nvPr/>
        </p:nvSpPr>
        <p:spPr>
          <a:xfrm>
            <a:off x="10287000" y="3337560"/>
            <a:ext cx="868680" cy="868680"/>
          </a:xfrm>
          <a:prstGeom prst="ellipse">
            <a:avLst/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2200" b="1" noProof="0" dirty="0">
                <a:solidFill>
                  <a:srgbClr val="DFF25E"/>
                </a:solidFill>
                <a:latin typeface="Calibri"/>
              </a:rPr>
              <a:t>?</a:t>
            </a:r>
          </a:p>
        </p:txBody>
      </p:sp>
      <p:sp>
        <p:nvSpPr>
          <p:cNvPr id="8" name="Oval 7"/>
          <p:cNvSpPr/>
          <p:nvPr/>
        </p:nvSpPr>
        <p:spPr>
          <a:xfrm>
            <a:off x="9006840" y="3840480"/>
            <a:ext cx="685800" cy="685800"/>
          </a:xfrm>
          <a:prstGeom prst="ellipse">
            <a:avLst/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700" b="1" noProof="0" dirty="0">
                <a:solidFill>
                  <a:srgbClr val="C9D8E8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4709159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200" b="0" i="1" noProof="0" dirty="0">
                <a:solidFill>
                  <a:srgbClr val="C9D8E8"/>
                </a:solidFill>
                <a:latin typeface="Calibri"/>
              </a:rPr>
              <a:t>age · sugere · escala</a:t>
            </a:r>
          </a:p>
        </p:txBody>
      </p:sp>
      <p:pic>
        <p:nvPicPr>
          <p:cNvPr id="8194" name="Picture 2" descr="KAMINO INSTITUICAO DE PAGAMENTO - Reclame Aqui">
            <a:extLst>
              <a:ext uri="{FF2B5EF4-FFF2-40B4-BE49-F238E27FC236}">
                <a16:creationId xmlns:a16="http://schemas.microsoft.com/office/drawing/2014/main" id="{B3C57DBD-68F4-5EAE-7C08-33BD957837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9160" y="-134874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5E7182"/>
                </a:solidFill>
                <a:latin typeface="Calibri"/>
              </a:rPr>
              <a:t>APRESENTAÇÃO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Quem está </a:t>
            </a:r>
            <a:r>
              <a:rPr lang="pt-BR" sz="3000" b="1" i="0" noProof="0" dirty="0">
                <a:solidFill>
                  <a:srgbClr val="0D2333"/>
                </a:solidFill>
                <a:latin typeface="Calibri"/>
              </a:rPr>
              <a:t>do outro lado</a:t>
            </a: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 da mesa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6031152" cy="420624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2697480" y="1965960"/>
            <a:ext cx="3566160" cy="15124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lang="pt-BR" sz="2400" b="1" i="0" noProof="0" dirty="0">
                <a:solidFill>
                  <a:srgbClr val="FFFFFF"/>
                </a:solidFill>
                <a:latin typeface="Calibri"/>
              </a:rPr>
              <a:t>Bruce Bianchini</a:t>
            </a:r>
          </a:p>
          <a:p>
            <a:pPr algn="r">
              <a:spcAft>
                <a:spcPts val="1200"/>
              </a:spcAft>
            </a:pPr>
            <a:r>
              <a:rPr lang="pt-BR" sz="1400" b="1" i="0" noProof="0" dirty="0" err="1">
                <a:solidFill>
                  <a:srgbClr val="DFF25E"/>
                </a:solidFill>
                <a:latin typeface="Calibri"/>
              </a:rPr>
              <a:t>Product</a:t>
            </a:r>
            <a:r>
              <a:rPr lang="pt-BR" sz="1400" b="1" i="0" noProof="0">
                <a:solidFill>
                  <a:srgbClr val="DFF25E"/>
                </a:solidFill>
                <a:latin typeface="Calibri"/>
              </a:rPr>
              <a:t> Management</a:t>
            </a:r>
            <a:endParaRPr lang="pt-BR" sz="1400" b="1" i="0" noProof="0" dirty="0">
              <a:solidFill>
                <a:srgbClr val="DFF25E"/>
              </a:solidFill>
              <a:latin typeface="Calibri"/>
            </a:endParaRPr>
          </a:p>
          <a:p>
            <a:pPr algn="r">
              <a:lnSpc>
                <a:spcPct val="115000"/>
              </a:lnSpc>
              <a:spcAft>
                <a:spcPts val="1200"/>
              </a:spcAft>
            </a:pPr>
            <a:r>
              <a:rPr lang="pt-BR" sz="1300" b="0" i="0" noProof="0" dirty="0">
                <a:solidFill>
                  <a:srgbClr val="C9D8E8"/>
                </a:solidFill>
                <a:latin typeface="Calibri"/>
              </a:rPr>
              <a:t>ERP | IA | FINANCE</a:t>
            </a:r>
          </a:p>
          <a:p>
            <a:pPr algn="r">
              <a:spcAft>
                <a:spcPts val="0"/>
              </a:spcAft>
            </a:pPr>
            <a:r>
              <a:rPr lang="pt-BR" sz="1100" noProof="0" dirty="0">
                <a:solidFill>
                  <a:srgbClr val="C9D8E8"/>
                </a:solidFill>
                <a:latin typeface="Calibri"/>
              </a:rPr>
              <a:t>Uberlândia/MG </a:t>
            </a:r>
          </a:p>
          <a:p>
            <a:pPr algn="r">
              <a:spcAft>
                <a:spcPts val="0"/>
              </a:spcAft>
            </a:pPr>
            <a:r>
              <a:rPr lang="pt-BR" sz="1100" noProof="0" dirty="0">
                <a:solidFill>
                  <a:srgbClr val="C9D8E8"/>
                </a:solidFill>
              </a:rPr>
              <a:t>https://www.linkedin.com/in/brucebianchini</a:t>
            </a:r>
            <a:endParaRPr lang="pt-BR" sz="1100" b="0" i="0" noProof="0" dirty="0">
              <a:solidFill>
                <a:srgbClr val="C9D8E8"/>
              </a:solidFill>
              <a:latin typeface="Calibri"/>
            </a:endParaRPr>
          </a:p>
        </p:txBody>
      </p:sp>
      <p:sp>
        <p:nvSpPr>
          <p:cNvPr id="5" name="Oval 4"/>
          <p:cNvSpPr/>
          <p:nvPr/>
        </p:nvSpPr>
        <p:spPr>
          <a:xfrm>
            <a:off x="6854112" y="1727625"/>
            <a:ext cx="278208" cy="384048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1783080"/>
            <a:ext cx="4206240" cy="4546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Trajetória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250" b="0" i="0" noProof="0" dirty="0">
                <a:solidFill>
                  <a:srgbClr val="112A3D"/>
                </a:solidFill>
                <a:latin typeface="Calibri"/>
              </a:rPr>
              <a:t>6 anos de produto; ERP, pagamentos, Fintech, B2B SaaS. </a:t>
            </a:r>
          </a:p>
        </p:txBody>
      </p:sp>
      <p:sp>
        <p:nvSpPr>
          <p:cNvPr id="7" name="Oval 6"/>
          <p:cNvSpPr/>
          <p:nvPr/>
        </p:nvSpPr>
        <p:spPr>
          <a:xfrm>
            <a:off x="6854112" y="3117512"/>
            <a:ext cx="278208" cy="384048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3172968"/>
            <a:ext cx="4206240" cy="6623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Resultados que carrego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250" b="0" i="0" noProof="0" dirty="0">
                <a:solidFill>
                  <a:srgbClr val="112A3D"/>
                </a:solidFill>
                <a:latin typeface="Calibri"/>
              </a:rPr>
              <a:t>Redução do tempo de implantação de 9 meses para 45 dias. 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250" noProof="0" dirty="0">
                <a:solidFill>
                  <a:srgbClr val="112A3D"/>
                </a:solidFill>
                <a:latin typeface="Calibri"/>
              </a:rPr>
              <a:t>5x mais conversão em vendas.</a:t>
            </a:r>
            <a:endParaRPr lang="pt-BR" sz="1250" b="0" i="0" noProof="0" dirty="0">
              <a:solidFill>
                <a:srgbClr val="112A3D"/>
              </a:solidFill>
              <a:latin typeface="Calibri"/>
            </a:endParaRPr>
          </a:p>
        </p:txBody>
      </p:sp>
      <p:sp>
        <p:nvSpPr>
          <p:cNvPr id="9" name="Oval 8"/>
          <p:cNvSpPr/>
          <p:nvPr/>
        </p:nvSpPr>
        <p:spPr>
          <a:xfrm>
            <a:off x="6854112" y="4507401"/>
            <a:ext cx="278208" cy="384048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4562856"/>
            <a:ext cx="4206240" cy="6623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Como eu trabalho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250" b="0" i="0" noProof="0" dirty="0">
                <a:solidFill>
                  <a:srgbClr val="112A3D"/>
                </a:solidFill>
                <a:latin typeface="Calibri"/>
              </a:rPr>
              <a:t>Decisões escritas e rastreáveis, colaboração próxima com engenharia, IA como método de trabalho</a:t>
            </a:r>
            <a:r>
              <a:rPr lang="pt-BR" sz="1250" noProof="0" dirty="0">
                <a:solidFill>
                  <a:srgbClr val="112A3D"/>
                </a:solidFill>
                <a:latin typeface="Calibri"/>
              </a:rPr>
              <a:t> (</a:t>
            </a:r>
            <a:r>
              <a:rPr lang="pt-BR" sz="1250" b="0" i="0" noProof="0" dirty="0">
                <a:solidFill>
                  <a:srgbClr val="112A3D"/>
                </a:solidFill>
                <a:latin typeface="Calibri"/>
              </a:rPr>
              <a:t>este material é prova).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30DE5F45-249A-A1B2-A639-A0F211754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0200"/>
            <a:ext cx="3505200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>
            <a:extLst>
              <a:ext uri="{FF2B5EF4-FFF2-40B4-BE49-F238E27FC236}">
                <a16:creationId xmlns:a16="http://schemas.microsoft.com/office/drawing/2014/main" id="{D5C73824-C7D9-770E-3731-3B871B7E8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7592" y="4043546"/>
            <a:ext cx="1386048" cy="1389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5E7182"/>
                </a:solidFill>
                <a:latin typeface="Calibri"/>
              </a:rPr>
              <a:t>O PROBLEMA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O pedido é simples. </a:t>
            </a:r>
            <a:r>
              <a:rPr lang="pt-BR" sz="3000" b="1" i="0" noProof="0" dirty="0">
                <a:solidFill>
                  <a:srgbClr val="0D2333"/>
                </a:solidFill>
                <a:latin typeface="Calibri"/>
              </a:rPr>
              <a:t>O problema, não.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5120640" cy="393192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4389120" cy="19198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1400"/>
              </a:spcAft>
            </a:pPr>
            <a:r>
              <a:rPr lang="pt-BR" sz="2000" b="1" i="1" noProof="0" dirty="0">
                <a:solidFill>
                  <a:srgbClr val="FFFFFF"/>
                </a:solidFill>
                <a:latin typeface="Calibri"/>
              </a:rPr>
              <a:t>“Quero abrir a plataforma e </a:t>
            </a:r>
            <a:r>
              <a:rPr lang="pt-BR" sz="2000" b="1" i="1" noProof="0" dirty="0">
                <a:solidFill>
                  <a:srgbClr val="DFF25E"/>
                </a:solidFill>
                <a:latin typeface="Calibri"/>
              </a:rPr>
              <a:t>confiar no meu saldo</a:t>
            </a:r>
            <a:r>
              <a:rPr lang="pt-BR" sz="2000" b="1" i="1" noProof="0" dirty="0">
                <a:solidFill>
                  <a:srgbClr val="FFFFFF"/>
                </a:solidFill>
                <a:latin typeface="Calibri"/>
              </a:rPr>
              <a:t>, sem passar horas conferindo.”</a:t>
            </a:r>
            <a:br>
              <a:rPr lang="pt-BR" sz="1300" b="1" i="0" noProof="0" dirty="0">
                <a:solidFill>
                  <a:srgbClr val="FFFFFF"/>
                </a:solidFill>
                <a:latin typeface="Calibri"/>
              </a:rPr>
            </a:br>
            <a:r>
              <a:rPr lang="pt-BR" sz="1300" b="1" i="0" noProof="0" dirty="0">
                <a:solidFill>
                  <a:srgbClr val="FFFFFF"/>
                </a:solidFill>
                <a:latin typeface="Calibri"/>
              </a:rPr>
              <a:t>Bia – sócia-proprietária da Acme Serviços</a:t>
            </a:r>
          </a:p>
          <a:p>
            <a:pPr>
              <a:lnSpc>
                <a:spcPct val="110000"/>
              </a:lnSpc>
            </a:pPr>
            <a:r>
              <a:rPr lang="pt-BR" sz="1200" noProof="0" dirty="0">
                <a:solidFill>
                  <a:srgbClr val="C9D8E8"/>
                </a:solidFill>
              </a:rPr>
              <a:t> · </a:t>
            </a:r>
            <a:r>
              <a:rPr lang="pt-BR" sz="1200" b="0" i="0" noProof="0" dirty="0">
                <a:solidFill>
                  <a:srgbClr val="C9D8E8"/>
                </a:solidFill>
                <a:latin typeface="Calibri"/>
              </a:rPr>
              <a:t>Empresa de serviços</a:t>
            </a:r>
          </a:p>
          <a:p>
            <a:pPr>
              <a:lnSpc>
                <a:spcPct val="110000"/>
              </a:lnSpc>
            </a:pPr>
            <a:r>
              <a:rPr lang="pt-BR" sz="1200" b="0" i="0" noProof="0" dirty="0">
                <a:solidFill>
                  <a:srgbClr val="C9D8E8"/>
                </a:solidFill>
                <a:latin typeface="Calibri"/>
              </a:rPr>
              <a:t> · ~120 funcionários</a:t>
            </a:r>
          </a:p>
          <a:p>
            <a:pPr>
              <a:lnSpc>
                <a:spcPct val="110000"/>
              </a:lnSpc>
            </a:pPr>
            <a:r>
              <a:rPr lang="pt-BR" sz="1200" b="0" i="0" noProof="0" dirty="0">
                <a:solidFill>
                  <a:srgbClr val="C9D8E8"/>
                </a:solidFill>
                <a:latin typeface="Calibri"/>
              </a:rPr>
              <a:t> · mais de uma conta bancária </a:t>
            </a:r>
          </a:p>
          <a:p>
            <a:pPr>
              <a:lnSpc>
                <a:spcPct val="110000"/>
              </a:lnSpc>
            </a:pPr>
            <a:r>
              <a:rPr lang="pt-BR" sz="1200" b="0" i="0" noProof="0" dirty="0">
                <a:solidFill>
                  <a:srgbClr val="C9D8E8"/>
                </a:solidFill>
                <a:latin typeface="Calibri"/>
              </a:rPr>
              <a:t> · fecha o caixa exportando extratos e batendo no Excel</a:t>
            </a:r>
          </a:p>
        </p:txBody>
      </p:sp>
      <p:sp>
        <p:nvSpPr>
          <p:cNvPr id="5" name="Oval 4"/>
          <p:cNvSpPr/>
          <p:nvPr/>
        </p:nvSpPr>
        <p:spPr>
          <a:xfrm>
            <a:off x="6126480" y="1746504"/>
            <a:ext cx="384048" cy="384048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300" b="1" noProof="0" dirty="0">
                <a:solidFill>
                  <a:srgbClr val="0D2333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1691640"/>
            <a:ext cx="4892040" cy="7292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Dor aparente: </a:t>
            </a:r>
            <a:r>
              <a:rPr lang="pt-BR" sz="2000" b="1" i="0" noProof="0" dirty="0">
                <a:solidFill>
                  <a:srgbClr val="0D2333"/>
                </a:solidFill>
                <a:latin typeface="Calibri"/>
              </a:rPr>
              <a:t>tempo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250" b="0" i="0" noProof="0" dirty="0">
                <a:solidFill>
                  <a:srgbClr val="112A3D"/>
                </a:solidFill>
                <a:latin typeface="Calibri"/>
              </a:rPr>
              <a:t>Horas exportando extratos e batendo linha a linha na planilha, todo fechamento.</a:t>
            </a:r>
          </a:p>
        </p:txBody>
      </p:sp>
      <p:sp>
        <p:nvSpPr>
          <p:cNvPr id="7" name="Oval 6"/>
          <p:cNvSpPr/>
          <p:nvPr/>
        </p:nvSpPr>
        <p:spPr>
          <a:xfrm>
            <a:off x="6126480" y="3099816"/>
            <a:ext cx="384048" cy="384048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300" b="1" noProof="0" dirty="0">
                <a:solidFill>
                  <a:srgbClr val="0D2333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3044952"/>
            <a:ext cx="4892040" cy="7292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Dor real: </a:t>
            </a:r>
            <a:r>
              <a:rPr lang="pt-BR" sz="2000" b="1" i="0" noProof="0" dirty="0">
                <a:solidFill>
                  <a:srgbClr val="0D2333"/>
                </a:solidFill>
                <a:latin typeface="Calibri"/>
              </a:rPr>
              <a:t>confiança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250" b="0" i="0" noProof="0" dirty="0">
                <a:solidFill>
                  <a:srgbClr val="112A3D"/>
                </a:solidFill>
                <a:latin typeface="Calibri"/>
              </a:rPr>
              <a:t>Ela só confia no saldo porque ela mesma conferiu. O Excel não é a ferramenta — é o mecanismo de confiança dela.</a:t>
            </a:r>
          </a:p>
        </p:txBody>
      </p:sp>
      <p:sp>
        <p:nvSpPr>
          <p:cNvPr id="9" name="Oval 8"/>
          <p:cNvSpPr/>
          <p:nvPr/>
        </p:nvSpPr>
        <p:spPr>
          <a:xfrm>
            <a:off x="6126480" y="4453128"/>
            <a:ext cx="384048" cy="384048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300" b="1" noProof="0" dirty="0">
                <a:solidFill>
                  <a:srgbClr val="0D2333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4398264"/>
            <a:ext cx="4892040" cy="8542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Implicação de produto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250" b="0" i="0" noProof="0" dirty="0">
                <a:solidFill>
                  <a:srgbClr val="112A3D"/>
                </a:solidFill>
                <a:latin typeface="Calibri"/>
              </a:rPr>
              <a:t>Automação que </a:t>
            </a:r>
            <a:r>
              <a:rPr lang="pt-BR" sz="1250" b="1" i="0" noProof="0" dirty="0">
                <a:solidFill>
                  <a:srgbClr val="112A3D"/>
                </a:solidFill>
                <a:latin typeface="Calibri"/>
              </a:rPr>
              <a:t>esconde o trabalho </a:t>
            </a:r>
            <a:r>
              <a:rPr lang="pt-BR" sz="1250" b="0" i="0" u="sng" noProof="0" dirty="0">
                <a:solidFill>
                  <a:srgbClr val="112A3D"/>
                </a:solidFill>
                <a:latin typeface="Calibri"/>
              </a:rPr>
              <a:t>destrói a confiança em vez de transferi-la</a:t>
            </a:r>
            <a:r>
              <a:rPr lang="pt-BR" sz="1250" b="0" i="0" noProof="0" dirty="0">
                <a:solidFill>
                  <a:srgbClr val="112A3D"/>
                </a:solidFill>
                <a:latin typeface="Calibri"/>
              </a:rPr>
              <a:t>. A plataforma deve tornar a conferência verificável em segundos.</a:t>
            </a:r>
          </a:p>
        </p:txBody>
      </p:sp>
      <p:pic>
        <p:nvPicPr>
          <p:cNvPr id="1026" name="Picture 2" descr="Kamino raises $10M in a round led by Flourish and Quona - LatamList">
            <a:extLst>
              <a:ext uri="{FF2B5EF4-FFF2-40B4-BE49-F238E27FC236}">
                <a16:creationId xmlns:a16="http://schemas.microsoft.com/office/drawing/2014/main" id="{711EE169-68C5-EC4C-3764-88F9D0BD22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56"/>
          <a:stretch>
            <a:fillRect/>
          </a:stretch>
        </p:blipFill>
        <p:spPr bwMode="auto">
          <a:xfrm>
            <a:off x="9792928" y="-1"/>
            <a:ext cx="2399071" cy="105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5E7182"/>
                </a:solidFill>
                <a:latin typeface="Calibri"/>
              </a:rPr>
              <a:t>A DOR NO FLUXO DE HOJE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Quatro passos que consomem o </a:t>
            </a:r>
            <a:r>
              <a:rPr lang="pt-BR" sz="3000" b="1" i="0" noProof="0" dirty="0">
                <a:solidFill>
                  <a:srgbClr val="0D2333"/>
                </a:solidFill>
                <a:latin typeface="Calibri"/>
              </a:rPr>
              <a:t>fechamento</a:t>
            </a: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 da Acme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2651760" cy="182880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Oval 3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500" b="1" noProof="0" dirty="0">
                <a:solidFill>
                  <a:srgbClr val="0D2333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06040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550" b="1" i="0" noProof="0" dirty="0">
                <a:solidFill>
                  <a:srgbClr val="0D2333"/>
                </a:solidFill>
                <a:latin typeface="Calibri"/>
              </a:rPr>
              <a:t>Exportar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200" b="0" i="0" noProof="0" dirty="0">
                <a:solidFill>
                  <a:srgbClr val="112A3D"/>
                </a:solidFill>
                <a:latin typeface="Calibri"/>
              </a:rPr>
              <a:t>Baixa extratos de cada banco, em PDF ou Excel, conta a conta.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737360"/>
            <a:ext cx="2621280" cy="2212848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Oval 6"/>
          <p:cNvSpPr/>
          <p:nvPr/>
        </p:nvSpPr>
        <p:spPr>
          <a:xfrm>
            <a:off x="3531157" y="1965960"/>
            <a:ext cx="457200" cy="457200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500" b="1" noProof="0" dirty="0">
                <a:solidFill>
                  <a:srgbClr val="0D2333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31157" y="2606040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550" b="1" i="0" noProof="0" dirty="0">
                <a:solidFill>
                  <a:srgbClr val="0D2333"/>
                </a:solidFill>
                <a:latin typeface="Calibri"/>
              </a:rPr>
              <a:t>Bater na planilha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200" b="0" i="0" noProof="0" dirty="0" err="1">
                <a:solidFill>
                  <a:srgbClr val="112A3D"/>
                </a:solidFill>
                <a:latin typeface="Calibri"/>
              </a:rPr>
              <a:t>Ctrl+F</a:t>
            </a:r>
            <a:r>
              <a:rPr lang="pt-BR" sz="1200" b="0" i="0" noProof="0" dirty="0">
                <a:solidFill>
                  <a:srgbClr val="112A3D"/>
                </a:solidFill>
                <a:latin typeface="Calibri"/>
              </a:rPr>
              <a:t>, olho treinado e fórmulas quebradas: linha a linha contra os lançamentos.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6000" y="1737360"/>
            <a:ext cx="2685386" cy="249174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Oval 9"/>
          <p:cNvSpPr/>
          <p:nvPr/>
        </p:nvSpPr>
        <p:spPr>
          <a:xfrm>
            <a:off x="6285074" y="1965960"/>
            <a:ext cx="457200" cy="457200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500" b="1" noProof="0" dirty="0">
                <a:solidFill>
                  <a:srgbClr val="0D2333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5074" y="2606040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550" b="1" i="0" noProof="0" dirty="0">
                <a:solidFill>
                  <a:srgbClr val="0D2333"/>
                </a:solidFill>
                <a:latin typeface="Calibri"/>
              </a:rPr>
              <a:t>Tratar exceções no escuro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200" b="0" i="0" noProof="0" dirty="0">
                <a:solidFill>
                  <a:srgbClr val="112A3D"/>
                </a:solidFill>
                <a:latin typeface="Calibri"/>
              </a:rPr>
              <a:t>Lote, pagamento parcial, retenção de imposto e tarifa não têm apoio — viram investigação manual.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8546" y="1737360"/>
            <a:ext cx="2724912" cy="283464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Oval 12"/>
          <p:cNvSpPr/>
          <p:nvPr/>
        </p:nvSpPr>
        <p:spPr>
          <a:xfrm>
            <a:off x="9147146" y="1965960"/>
            <a:ext cx="457200" cy="457200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500" b="1" noProof="0" dirty="0">
                <a:solidFill>
                  <a:srgbClr val="0D2333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7146" y="2606040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550" b="1" i="0" noProof="0" dirty="0">
                <a:solidFill>
                  <a:srgbClr val="0D2333"/>
                </a:solidFill>
                <a:latin typeface="Calibri"/>
              </a:rPr>
              <a:t>Fechar sem confiar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200" b="0" i="0" noProof="0" dirty="0">
                <a:solidFill>
                  <a:srgbClr val="112A3D"/>
                </a:solidFill>
                <a:latin typeface="Calibri"/>
              </a:rPr>
              <a:t>O caixa “fecha”, mas ninguém confia no número. A conferência recomeça no mês seguinte.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937760"/>
            <a:ext cx="11091672" cy="105156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914400" y="5148072"/>
            <a:ext cx="10424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pt-BR" sz="1400" b="1" i="0" noProof="0" dirty="0">
                <a:solidFill>
                  <a:srgbClr val="DFF25E"/>
                </a:solidFill>
                <a:latin typeface="Calibri"/>
              </a:rPr>
              <a:t>Custo real: </a:t>
            </a:r>
            <a:r>
              <a:rPr lang="pt-BR" sz="1400" b="0" i="0" noProof="0" dirty="0">
                <a:solidFill>
                  <a:srgbClr val="FFFFFF"/>
                </a:solidFill>
                <a:latin typeface="Calibri"/>
              </a:rPr>
              <a:t>horas de analista + decisões de caixa tomadas sobre um saldo incerto. A exceção — não o caso 1:1 — é onde o tempo e a confiança se perdem.</a:t>
            </a:r>
          </a:p>
        </p:txBody>
      </p:sp>
      <p:pic>
        <p:nvPicPr>
          <p:cNvPr id="17" name="Picture 2" descr="Kamino raises $10M in a round led by Flourish and Quona - LatamList">
            <a:extLst>
              <a:ext uri="{FF2B5EF4-FFF2-40B4-BE49-F238E27FC236}">
                <a16:creationId xmlns:a16="http://schemas.microsoft.com/office/drawing/2014/main" id="{80F673E2-B22B-23C1-565C-EC7386F659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56"/>
          <a:stretch>
            <a:fillRect/>
          </a:stretch>
        </p:blipFill>
        <p:spPr bwMode="auto">
          <a:xfrm>
            <a:off x="9792928" y="-1"/>
            <a:ext cx="2399071" cy="105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5E7182"/>
                </a:solidFill>
                <a:latin typeface="Calibri"/>
              </a:rPr>
              <a:t>CONTEXTO DE MERCADO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A dor é estrutural — e o mercado já apontou a </a:t>
            </a:r>
            <a:r>
              <a:rPr lang="pt-BR" sz="3000" b="1" i="0" noProof="0" dirty="0">
                <a:solidFill>
                  <a:srgbClr val="0D2333"/>
                </a:solidFill>
                <a:latin typeface="Calibri"/>
              </a:rPr>
              <a:t>direção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2724912" cy="214884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22860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3400" b="1" i="0" noProof="0" dirty="0">
                <a:solidFill>
                  <a:srgbClr val="DFF25E"/>
                </a:solidFill>
                <a:latin typeface="Calibri"/>
              </a:rPr>
              <a:t>8–12h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150" b="0" i="0" noProof="0" dirty="0">
                <a:solidFill>
                  <a:srgbClr val="C9D8E8"/>
                </a:solidFill>
                <a:latin typeface="Calibri"/>
              </a:rPr>
              <a:t>por semana gastas em conciliação manual por um profissional qualificado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10712" y="1645920"/>
            <a:ext cx="2724912" cy="214884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3639312" y="1874519"/>
            <a:ext cx="22860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3400" b="1" i="0" noProof="0" dirty="0">
                <a:solidFill>
                  <a:srgbClr val="DFF25E"/>
                </a:solidFill>
                <a:latin typeface="Calibri"/>
              </a:rPr>
              <a:t>9 de 10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150" b="0" i="0" noProof="0" dirty="0" err="1">
                <a:solidFill>
                  <a:srgbClr val="C9D8E8"/>
                </a:solidFill>
                <a:latin typeface="Calibri"/>
              </a:rPr>
              <a:t>PMEs</a:t>
            </a:r>
            <a:r>
              <a:rPr lang="pt-BR" sz="1150" b="0" i="0" noProof="0" dirty="0">
                <a:solidFill>
                  <a:srgbClr val="C9D8E8"/>
                </a:solidFill>
                <a:latin typeface="Calibri"/>
              </a:rPr>
              <a:t> brasileiras ainda conciliam com extrato + planilha auxiliar, na mão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3" y="1645920"/>
            <a:ext cx="2651760" cy="214884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6501383" y="1874519"/>
            <a:ext cx="22860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3400" b="1" i="0" noProof="0" dirty="0">
                <a:solidFill>
                  <a:srgbClr val="DFF25E"/>
                </a:solidFill>
                <a:latin typeface="Calibri"/>
              </a:rPr>
              <a:t>48%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150" b="0" i="0" noProof="0" dirty="0">
                <a:solidFill>
                  <a:srgbClr val="C9D8E8"/>
                </a:solidFill>
                <a:latin typeface="Calibri"/>
              </a:rPr>
              <a:t>das </a:t>
            </a:r>
            <a:r>
              <a:rPr lang="pt-BR" sz="1150" b="0" i="0" noProof="0" dirty="0" err="1">
                <a:solidFill>
                  <a:srgbClr val="C9D8E8"/>
                </a:solidFill>
                <a:latin typeface="Calibri"/>
              </a:rPr>
              <a:t>MPEs</a:t>
            </a:r>
            <a:r>
              <a:rPr lang="pt-BR" sz="1150" b="0" i="0" noProof="0" dirty="0">
                <a:solidFill>
                  <a:srgbClr val="C9D8E8"/>
                </a:solidFill>
                <a:latin typeface="Calibri"/>
              </a:rPr>
              <a:t> que fecham citam falta de planejamento financeiro e controle de caixa (Sebrae)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61703" y="1645920"/>
            <a:ext cx="2551178" cy="214884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9363455" y="1874519"/>
            <a:ext cx="22860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3400" b="1" i="0" noProof="0" dirty="0">
                <a:solidFill>
                  <a:srgbClr val="DFF25E"/>
                </a:solidFill>
                <a:latin typeface="Calibri"/>
              </a:rPr>
              <a:t>60%+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150" b="0" i="0" noProof="0" dirty="0">
                <a:solidFill>
                  <a:srgbClr val="C9D8E8"/>
                </a:solidFill>
                <a:latin typeface="Calibri"/>
              </a:rPr>
              <a:t>das tarefas de fechamento já são automatizáveis com agentes (benchmark </a:t>
            </a:r>
            <a:r>
              <a:rPr lang="pt-BR" sz="1150" b="0" i="0" noProof="0" dirty="0" err="1">
                <a:solidFill>
                  <a:srgbClr val="C9D8E8"/>
                </a:solidFill>
                <a:latin typeface="Calibri"/>
              </a:rPr>
              <a:t>HighRadius</a:t>
            </a:r>
            <a:r>
              <a:rPr lang="pt-BR" sz="1150" b="0" i="0" noProof="0" dirty="0">
                <a:solidFill>
                  <a:srgbClr val="C9D8E8"/>
                </a:solidFill>
                <a:latin typeface="Calibri"/>
              </a:rPr>
              <a:t>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69080"/>
            <a:ext cx="11091672" cy="1691640"/>
          </a:xfrm>
          <a:prstGeom prst="roundRect">
            <a:avLst>
              <a:gd name="adj" fmla="val 10000"/>
            </a:avLst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914400" y="4315968"/>
            <a:ext cx="10424160" cy="1097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O benchmark global (</a:t>
            </a:r>
            <a:r>
              <a:rPr lang="pt-BR" sz="1500" b="1" i="0" noProof="0" dirty="0" err="1">
                <a:solidFill>
                  <a:srgbClr val="0D2333"/>
                </a:solidFill>
                <a:latin typeface="Calibri"/>
              </a:rPr>
              <a:t>BlackLine</a:t>
            </a: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, </a:t>
            </a:r>
            <a:r>
              <a:rPr lang="pt-BR" sz="1500" b="1" i="0" noProof="0" dirty="0" err="1">
                <a:solidFill>
                  <a:srgbClr val="0D2333"/>
                </a:solidFill>
                <a:latin typeface="Calibri"/>
              </a:rPr>
              <a:t>HighRadius</a:t>
            </a: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, </a:t>
            </a:r>
            <a:r>
              <a:rPr lang="pt-BR" sz="1500" b="1" i="0" noProof="0" dirty="0" err="1">
                <a:solidFill>
                  <a:srgbClr val="0D2333"/>
                </a:solidFill>
                <a:latin typeface="Calibri"/>
              </a:rPr>
              <a:t>Ramp</a:t>
            </a: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): </a:t>
            </a:r>
            <a:r>
              <a:rPr lang="pt-BR" sz="1500" b="1" i="0" noProof="0" dirty="0" err="1">
                <a:solidFill>
                  <a:srgbClr val="0D2333"/>
                </a:solidFill>
                <a:latin typeface="Calibri"/>
              </a:rPr>
              <a:t>auto-match</a:t>
            </a: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 com score de confiança e trilha de auditoria — o humano decide no lançamento, não no </a:t>
            </a:r>
            <a:r>
              <a:rPr lang="pt-BR" sz="1500" b="1" i="0" noProof="0" dirty="0" err="1">
                <a:solidFill>
                  <a:srgbClr val="0D2333"/>
                </a:solidFill>
                <a:latin typeface="Calibri"/>
              </a:rPr>
              <a:t>matching</a:t>
            </a: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endParaRPr lang="pt-BR" sz="1500" b="1" i="0" noProof="0" dirty="0">
              <a:solidFill>
                <a:srgbClr val="0D2333"/>
              </a:solidFill>
              <a:latin typeface="Calibri"/>
            </a:endParaRPr>
          </a:p>
          <a:p>
            <a:pPr algn="l">
              <a:spcAft>
                <a:spcPts val="0"/>
              </a:spcAft>
            </a:pPr>
            <a:r>
              <a:rPr lang="pt-BR" sz="1350" b="1" i="0" u="sng" noProof="0" dirty="0">
                <a:solidFill>
                  <a:srgbClr val="112A3D"/>
                </a:solidFill>
                <a:latin typeface="Calibri"/>
              </a:rPr>
              <a:t>&gt;&gt;&gt; É a fronteira que a </a:t>
            </a:r>
            <a:r>
              <a:rPr lang="pt-BR" sz="1350" b="1" i="0" u="sng" noProof="0" dirty="0" err="1">
                <a:solidFill>
                  <a:srgbClr val="112A3D"/>
                </a:solidFill>
                <a:latin typeface="Calibri"/>
              </a:rPr>
              <a:t>Kamino</a:t>
            </a:r>
            <a:r>
              <a:rPr lang="pt-BR" sz="1350" b="1" i="0" u="sng" noProof="0" dirty="0">
                <a:solidFill>
                  <a:srgbClr val="112A3D"/>
                </a:solidFill>
                <a:latin typeface="Calibri"/>
              </a:rPr>
              <a:t> pode levar ao médio mercado brasileiro — com a vantagem única do banco integrado à plataforma. &lt;&lt;&lt;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1000" b="0" i="1" noProof="0" dirty="0">
                <a:solidFill>
                  <a:srgbClr val="5E7182"/>
                </a:solidFill>
                <a:latin typeface="Calibri"/>
              </a:rPr>
              <a:t>Fontes: </a:t>
            </a:r>
            <a:r>
              <a:rPr lang="pt-BR" sz="1000" b="0" i="1" noProof="0" dirty="0" err="1">
                <a:solidFill>
                  <a:srgbClr val="5E7182"/>
                </a:solidFill>
                <a:latin typeface="Calibri"/>
              </a:rPr>
              <a:t>BFinance</a:t>
            </a:r>
            <a:r>
              <a:rPr lang="pt-BR" sz="1000" b="0" i="1" noProof="0" dirty="0">
                <a:solidFill>
                  <a:srgbClr val="5E7182"/>
                </a:solidFill>
                <a:latin typeface="Calibri"/>
              </a:rPr>
              <a:t> (2025), Sebrae, </a:t>
            </a:r>
            <a:r>
              <a:rPr lang="pt-BR" sz="1000" b="0" i="1" noProof="0" dirty="0" err="1">
                <a:solidFill>
                  <a:srgbClr val="5E7182"/>
                </a:solidFill>
                <a:latin typeface="Calibri"/>
              </a:rPr>
              <a:t>HighRadius</a:t>
            </a:r>
            <a:r>
              <a:rPr lang="pt-BR" sz="1000" b="0" i="1" noProof="0" dirty="0">
                <a:solidFill>
                  <a:srgbClr val="5E7182"/>
                </a:solidFill>
                <a:latin typeface="Calibri"/>
              </a:rPr>
              <a:t>. Números de mercado usados como referência direcional, não como medição própria.</a:t>
            </a:r>
          </a:p>
        </p:txBody>
      </p:sp>
      <p:pic>
        <p:nvPicPr>
          <p:cNvPr id="14" name="Picture 2" descr="Kamino raises $10M in a round led by Flourish and Quona - LatamList">
            <a:extLst>
              <a:ext uri="{FF2B5EF4-FFF2-40B4-BE49-F238E27FC236}">
                <a16:creationId xmlns:a16="http://schemas.microsoft.com/office/drawing/2014/main" id="{ABCED621-1933-4199-609C-2DD7026D3B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56"/>
          <a:stretch>
            <a:fillRect/>
          </a:stretch>
        </p:blipFill>
        <p:spPr bwMode="auto">
          <a:xfrm>
            <a:off x="9792928" y="-1"/>
            <a:ext cx="2399071" cy="105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5E7182"/>
                </a:solidFill>
                <a:latin typeface="Calibri"/>
              </a:rPr>
              <a:t>PERSONAS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Duas personas, dois modos — </a:t>
            </a:r>
            <a:r>
              <a:rPr lang="pt-BR" sz="3000" b="1" i="0" noProof="0" dirty="0">
                <a:solidFill>
                  <a:srgbClr val="0D2333"/>
                </a:solidFill>
                <a:latin typeface="Calibri"/>
              </a:rPr>
              <a:t>uma mesma </a:t>
            </a:r>
            <a:r>
              <a:rPr lang="pt-BR" sz="3000" b="1" i="0" noProof="0" dirty="0" err="1">
                <a:solidFill>
                  <a:srgbClr val="0D2333"/>
                </a:solidFill>
                <a:latin typeface="Calibri"/>
              </a:rPr>
              <a:t>engine</a:t>
            </a:r>
            <a:endParaRPr lang="pt-BR" sz="3000" b="1" i="0" noProof="0" dirty="0">
              <a:solidFill>
                <a:srgbClr val="0D2333"/>
              </a:solidFill>
              <a:latin typeface="Calibri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5422392" cy="365760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4800600" cy="2546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500" b="1" i="0" noProof="0" dirty="0">
                <a:solidFill>
                  <a:srgbClr val="5E7182"/>
                </a:solidFill>
                <a:latin typeface="Calibri"/>
              </a:rPr>
              <a:t>A DONA (Beatriz, </a:t>
            </a:r>
            <a:r>
              <a:rPr lang="pt-BR" sz="1500" b="1" i="0" noProof="0" dirty="0" err="1">
                <a:solidFill>
                  <a:srgbClr val="5E7182"/>
                </a:solidFill>
                <a:latin typeface="Calibri"/>
              </a:rPr>
              <a:t>decisora</a:t>
            </a:r>
            <a:r>
              <a:rPr lang="pt-BR" sz="1500" b="1" i="0" noProof="0" dirty="0">
                <a:solidFill>
                  <a:srgbClr val="5E7182"/>
                </a:solidFill>
                <a:latin typeface="Calibri"/>
              </a:rPr>
              <a:t>)</a:t>
            </a:r>
          </a:p>
          <a:p>
            <a:pPr algn="l">
              <a:spcAft>
                <a:spcPts val="1200"/>
              </a:spcAft>
            </a:pPr>
            <a:r>
              <a:rPr lang="pt-BR" sz="1600" b="1" i="1" noProof="0" dirty="0">
                <a:solidFill>
                  <a:srgbClr val="0D2333"/>
                </a:solidFill>
                <a:latin typeface="Calibri"/>
              </a:rPr>
              <a:t>“Abrir e confiar no saldo em 30 segundos.”</a:t>
            </a:r>
          </a:p>
          <a:p>
            <a:pPr algn="l">
              <a:spcAft>
                <a:spcPts val="1200"/>
              </a:spcAft>
            </a:pPr>
            <a:endParaRPr lang="pt-BR" sz="1600" b="1" i="1" noProof="0" dirty="0">
              <a:solidFill>
                <a:srgbClr val="0D2333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lang="pt-BR" sz="1250" b="1" i="0" noProof="0" dirty="0">
                <a:solidFill>
                  <a:srgbClr val="0D2333"/>
                </a:solidFill>
                <a:latin typeface="Calibri"/>
              </a:rPr>
              <a:t>Modo dominante — </a:t>
            </a:r>
            <a:r>
              <a:rPr lang="pt-BR" sz="1250" b="0" i="0" noProof="0" dirty="0">
                <a:solidFill>
                  <a:srgbClr val="112A3D"/>
                </a:solidFill>
                <a:latin typeface="Calibri"/>
              </a:rPr>
              <a:t>Briefing do agente + chat: pergunta em linguagem natural, delega, cobra explicação.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lang="pt-BR" sz="1250" b="1" i="0" noProof="0" dirty="0">
                <a:solidFill>
                  <a:srgbClr val="0D2333"/>
                </a:solidFill>
                <a:latin typeface="Calibri"/>
              </a:rPr>
              <a:t>Momentos de uso — </a:t>
            </a:r>
            <a:r>
              <a:rPr lang="pt-BR" sz="1250" b="0" i="0" noProof="0" dirty="0">
                <a:solidFill>
                  <a:srgbClr val="112A3D"/>
                </a:solidFill>
                <a:latin typeface="Calibri"/>
              </a:rPr>
              <a:t>Início do dia e fechamento do mês; aprova exceções de valor alto.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lang="pt-BR" sz="1250" b="1" i="0" noProof="0" dirty="0">
                <a:solidFill>
                  <a:srgbClr val="0D2333"/>
                </a:solidFill>
                <a:latin typeface="Calibri"/>
              </a:rPr>
              <a:t>O que a convence — </a:t>
            </a:r>
            <a:r>
              <a:rPr lang="pt-BR" sz="1250" b="0" i="0" noProof="0" dirty="0">
                <a:solidFill>
                  <a:srgbClr val="112A3D"/>
                </a:solidFill>
                <a:latin typeface="Calibri"/>
              </a:rPr>
              <a:t>Evidência a 1 clique e pendências explicadas — não um número seco.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00200"/>
            <a:ext cx="5422392" cy="365760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6537959" y="1874519"/>
            <a:ext cx="4800600" cy="2546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500" b="1" i="0" noProof="0" dirty="0">
                <a:solidFill>
                  <a:srgbClr val="5E7182"/>
                </a:solidFill>
                <a:latin typeface="Calibri"/>
              </a:rPr>
              <a:t>O ANALISTA FINANCEIRO (Fernando, operador)</a:t>
            </a:r>
          </a:p>
          <a:p>
            <a:pPr algn="l">
              <a:spcAft>
                <a:spcPts val="1200"/>
              </a:spcAft>
            </a:pPr>
            <a:r>
              <a:rPr lang="pt-BR" sz="1600" b="1" i="1" noProof="0" dirty="0">
                <a:solidFill>
                  <a:srgbClr val="0D2333"/>
                </a:solidFill>
                <a:latin typeface="Calibri"/>
              </a:rPr>
              <a:t>“Zerar a fila de pendências do dia.”</a:t>
            </a:r>
          </a:p>
          <a:p>
            <a:pPr algn="l">
              <a:spcAft>
                <a:spcPts val="1200"/>
              </a:spcAft>
            </a:pPr>
            <a:endParaRPr lang="pt-BR" sz="1600" b="1" i="1" noProof="0" dirty="0">
              <a:solidFill>
                <a:srgbClr val="0D2333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lang="pt-BR" sz="1250" b="1" i="0" noProof="0" dirty="0">
                <a:solidFill>
                  <a:srgbClr val="0D2333"/>
                </a:solidFill>
                <a:latin typeface="Calibri"/>
              </a:rPr>
              <a:t>Modo dominante — </a:t>
            </a:r>
            <a:r>
              <a:rPr lang="pt-BR" sz="1250" b="0" i="0" noProof="0" dirty="0" err="1">
                <a:solidFill>
                  <a:srgbClr val="112A3D"/>
                </a:solidFill>
                <a:latin typeface="Calibri"/>
              </a:rPr>
              <a:t>Workspace</a:t>
            </a:r>
            <a:r>
              <a:rPr lang="pt-BR" sz="1250" b="0" i="0" noProof="0" dirty="0">
                <a:solidFill>
                  <a:srgbClr val="112A3D"/>
                </a:solidFill>
                <a:latin typeface="Calibri"/>
              </a:rPr>
              <a:t> com fila e ações em massa; chat para destravar casos ambíguos.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lang="pt-BR" sz="1250" b="1" i="0" noProof="0" dirty="0">
                <a:solidFill>
                  <a:srgbClr val="0D2333"/>
                </a:solidFill>
                <a:latin typeface="Calibri"/>
              </a:rPr>
              <a:t>Momentos de uso — </a:t>
            </a:r>
            <a:r>
              <a:rPr lang="pt-BR" sz="1250" b="0" i="0" noProof="0" dirty="0">
                <a:solidFill>
                  <a:srgbClr val="112A3D"/>
                </a:solidFill>
                <a:latin typeface="Calibri"/>
              </a:rPr>
              <a:t>Rotina diária de conciliação; prepara o fechamento para a dona.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lang="pt-BR" sz="1250" b="1" i="0" noProof="0" dirty="0">
                <a:solidFill>
                  <a:srgbClr val="0D2333"/>
                </a:solidFill>
                <a:latin typeface="Calibri"/>
              </a:rPr>
              <a:t>O que o convence — </a:t>
            </a:r>
            <a:r>
              <a:rPr lang="pt-BR" sz="1250" b="0" i="0" noProof="0" dirty="0">
                <a:solidFill>
                  <a:srgbClr val="112A3D"/>
                </a:solidFill>
                <a:latin typeface="Calibri"/>
              </a:rPr>
              <a:t>Produtividade: revisar em paralelo, agir em lote, desfazer sem medo.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pt-BR" sz="1250" b="1" i="0" noProof="0" dirty="0">
                <a:solidFill>
                  <a:srgbClr val="5E7182"/>
                </a:solidFill>
                <a:latin typeface="Calibri"/>
              </a:rPr>
              <a:t>Hipótese assumida (sinalizada no material): </a:t>
            </a:r>
            <a:r>
              <a:rPr lang="pt-BR" sz="1250" b="0" i="0" noProof="0" dirty="0">
                <a:solidFill>
                  <a:srgbClr val="5E7182"/>
                </a:solidFill>
                <a:latin typeface="Calibri"/>
              </a:rPr>
              <a:t>com 120 funcionários, a dona não concilia linha a linha — existe um financeiro operando. A experiência precisa servir aos dois sem duplicar produto.</a:t>
            </a:r>
          </a:p>
        </p:txBody>
      </p:sp>
      <p:pic>
        <p:nvPicPr>
          <p:cNvPr id="8" name="Picture 2" descr="Kamino raises $10M in a round led by Flourish and Quona - LatamList">
            <a:extLst>
              <a:ext uri="{FF2B5EF4-FFF2-40B4-BE49-F238E27FC236}">
                <a16:creationId xmlns:a16="http://schemas.microsoft.com/office/drawing/2014/main" id="{CDE56242-2EF3-331C-A42A-CB724AF4C1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56"/>
          <a:stretch>
            <a:fillRect/>
          </a:stretch>
        </p:blipFill>
        <p:spPr bwMode="auto">
          <a:xfrm>
            <a:off x="9792928" y="-1"/>
            <a:ext cx="2399071" cy="105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5E7182"/>
                </a:solidFill>
                <a:latin typeface="Calibri"/>
              </a:rPr>
              <a:t>PRINCÍPIOS DE PRODUTO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Cinco princípios — cada um vira </a:t>
            </a:r>
            <a:r>
              <a:rPr lang="pt-BR" sz="3000" b="1" i="0" noProof="0" dirty="0">
                <a:solidFill>
                  <a:srgbClr val="0D2333"/>
                </a:solidFill>
                <a:latin typeface="Calibri"/>
              </a:rPr>
              <a:t>decisão visível</a:t>
            </a: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 no protótipo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746504"/>
            <a:ext cx="102412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Confiança se mostra, não se pede  —  </a:t>
            </a:r>
            <a:r>
              <a:rPr lang="pt-BR" sz="1350" b="0" i="0" noProof="0" dirty="0">
                <a:solidFill>
                  <a:srgbClr val="112A3D"/>
                </a:solidFill>
                <a:latin typeface="Calibri"/>
              </a:rPr>
              <a:t>Toda conciliação automática exibe a evidência (valor, data, contraparte) a 1 clique.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60604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679192"/>
            <a:ext cx="102412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Incerteza é informação, não falha  —  </a:t>
            </a:r>
            <a:r>
              <a:rPr lang="pt-BR" sz="1350" b="0" i="0" noProof="0" dirty="0">
                <a:solidFill>
                  <a:srgbClr val="112A3D"/>
                </a:solidFill>
                <a:latin typeface="Calibri"/>
              </a:rPr>
              <a:t>O agente diz “85% de confiança, porque X e Y”. Nunca finge certeza.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538728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611880"/>
            <a:ext cx="102412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Nada é irreversível  —  </a:t>
            </a:r>
            <a:r>
              <a:rPr lang="pt-BR" sz="1350" b="0" i="0" noProof="0" dirty="0">
                <a:solidFill>
                  <a:srgbClr val="112A3D"/>
                </a:solidFill>
                <a:latin typeface="Calibri"/>
              </a:rPr>
              <a:t>Toda ação tem desfazer e trilha de auditoria: quem, quando, com que evidência.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471416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544568"/>
            <a:ext cx="102412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IA não cria fato financeiro sozinha  —  </a:t>
            </a:r>
            <a:r>
              <a:rPr lang="pt-BR" sz="1350" b="0" i="0" noProof="0" dirty="0">
                <a:solidFill>
                  <a:srgbClr val="112A3D"/>
                </a:solidFill>
                <a:latin typeface="Calibri"/>
              </a:rPr>
              <a:t>Conciliar 1:1 exato, sim. Criar lançamento (tarifa, imposto), só com confirmação humana.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5404104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5477256"/>
            <a:ext cx="102412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500" b="1" i="0" noProof="0" dirty="0">
                <a:solidFill>
                  <a:srgbClr val="0D2333"/>
                </a:solidFill>
                <a:latin typeface="Calibri"/>
              </a:rPr>
              <a:t>O saldo confiável é o produto  —  </a:t>
            </a:r>
            <a:r>
              <a:rPr lang="pt-BR" sz="1350" b="0" i="0" noProof="0" dirty="0">
                <a:solidFill>
                  <a:srgbClr val="112A3D"/>
                </a:solidFill>
                <a:latin typeface="Calibri"/>
              </a:rPr>
              <a:t>A métrica-mãe da tela: % do extrato explicado e o que falta para 100%.</a:t>
            </a:r>
          </a:p>
        </p:txBody>
      </p:sp>
      <p:pic>
        <p:nvPicPr>
          <p:cNvPr id="13" name="Picture 2" descr="Kamino raises $10M in a round led by Flourish and Quona - LatamList">
            <a:extLst>
              <a:ext uri="{FF2B5EF4-FFF2-40B4-BE49-F238E27FC236}">
                <a16:creationId xmlns:a16="http://schemas.microsoft.com/office/drawing/2014/main" id="{3D6E265B-85CA-07E2-6AA7-28E4001C47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44"/>
          <a:stretch>
            <a:fillRect/>
          </a:stretch>
        </p:blipFill>
        <p:spPr bwMode="auto">
          <a:xfrm>
            <a:off x="9792928" y="5634621"/>
            <a:ext cx="2399071" cy="1223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5E7182"/>
                </a:solidFill>
                <a:latin typeface="Calibri"/>
              </a:rPr>
              <a:t>O CONCEITO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Fechamento assistido por agente: </a:t>
            </a:r>
            <a:r>
              <a:rPr lang="pt-BR" sz="3000" b="1" i="0" noProof="0" dirty="0">
                <a:solidFill>
                  <a:srgbClr val="0D2333"/>
                </a:solidFill>
                <a:latin typeface="Calibri"/>
              </a:rPr>
              <a:t>chat protagonista</a:t>
            </a: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, UI de apoio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7607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450" b="1" i="0" noProof="0" dirty="0">
                <a:solidFill>
                  <a:srgbClr val="0D2333"/>
                </a:solidFill>
                <a:latin typeface="Calibri"/>
              </a:rPr>
              <a:t>Intenção em linguagem natural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200" b="0" i="0" noProof="0" dirty="0">
                <a:solidFill>
                  <a:srgbClr val="112A3D"/>
                </a:solidFill>
                <a:latin typeface="Calibri"/>
              </a:rPr>
              <a:t>“Mostra o lote”, “por que é retenção?”, “concilia o que for ≥ 90%”. O chat captura a intenção — sem caçar menu.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61488"/>
            <a:ext cx="57607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450" b="1" i="0" noProof="0" dirty="0">
                <a:solidFill>
                  <a:srgbClr val="0D2333"/>
                </a:solidFill>
                <a:latin typeface="Calibri"/>
              </a:rPr>
              <a:t>Respostas em UI generativa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200" b="0" i="0" noProof="0" dirty="0">
                <a:solidFill>
                  <a:srgbClr val="112A3D"/>
                </a:solidFill>
                <a:latin typeface="Calibri"/>
              </a:rPr>
              <a:t>Cards de sugestão, tabelas de lote e botões de ação renderizados na conversa — não texto corrido.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77056"/>
            <a:ext cx="57607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450" b="1" i="0" noProof="0" dirty="0">
                <a:solidFill>
                  <a:srgbClr val="0D2333"/>
                </a:solidFill>
                <a:latin typeface="Calibri"/>
              </a:rPr>
              <a:t>Estado persistente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200" b="0" i="0" noProof="0" dirty="0">
                <a:solidFill>
                  <a:srgbClr val="112A3D"/>
                </a:solidFill>
                <a:latin typeface="Calibri"/>
              </a:rPr>
              <a:t>4 saldos sempre visíveis: banco, interno, conciliado e pendências. Confiança não mora em bolha de chat.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92624"/>
            <a:ext cx="57607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450" b="1" i="0" noProof="0" dirty="0">
                <a:solidFill>
                  <a:srgbClr val="0D2333"/>
                </a:solidFill>
                <a:latin typeface="Calibri"/>
              </a:rPr>
              <a:t>Auditável e reversível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pt-BR" sz="1200" b="0" i="0" noProof="0" dirty="0">
                <a:solidFill>
                  <a:srgbClr val="112A3D"/>
                </a:solidFill>
                <a:latin typeface="Calibri"/>
              </a:rPr>
              <a:t>Texto, voz ou clique — toda ação vira evento estruturado com autor, evidência e desfazer.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600200"/>
            <a:ext cx="4937760" cy="4480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D2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Rounded Rectangle 7"/>
          <p:cNvSpPr/>
          <p:nvPr/>
        </p:nvSpPr>
        <p:spPr>
          <a:xfrm>
            <a:off x="6858000" y="1783080"/>
            <a:ext cx="4572000" cy="566928"/>
          </a:xfrm>
          <a:prstGeom prst="roundRect">
            <a:avLst>
              <a:gd name="adj" fmla="val 15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6967728" y="1883664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050" b="1" i="0" noProof="0" dirty="0">
                <a:solidFill>
                  <a:srgbClr val="DFF25E"/>
                </a:solidFill>
                <a:latin typeface="Calibri"/>
              </a:rPr>
              <a:t>Banco 12.305  ·  Interno 11.700  ·  Conciliado 92%  ·  Pendências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514600"/>
            <a:ext cx="2331720" cy="3383280"/>
          </a:xfrm>
          <a:prstGeom prst="roundRect">
            <a:avLst>
              <a:gd name="adj" fmla="val 6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1" name="Rounded Rectangle 10"/>
          <p:cNvSpPr/>
          <p:nvPr/>
        </p:nvSpPr>
        <p:spPr>
          <a:xfrm>
            <a:off x="6995160" y="2697480"/>
            <a:ext cx="1920240" cy="777240"/>
          </a:xfrm>
          <a:prstGeom prst="roundRect">
            <a:avLst>
              <a:gd name="adj" fmla="val 12000"/>
            </a:avLst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7086600" y="2770632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pt-BR" sz="850" b="0" i="0" noProof="0" dirty="0">
                <a:solidFill>
                  <a:srgbClr val="112A3D"/>
                </a:solidFill>
                <a:latin typeface="Calibri"/>
              </a:rPr>
              <a:t>Conciliei 2 de 7 automaticamente. Tenho 4 sugestões.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3611880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7452360" y="3703320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850" b="0" i="0" noProof="0" dirty="0">
                <a:solidFill>
                  <a:srgbClr val="FFFFFF"/>
                </a:solidFill>
                <a:latin typeface="Calibri"/>
              </a:rPr>
              <a:t>mostra o lote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4206240"/>
            <a:ext cx="1920240" cy="1051560"/>
          </a:xfrm>
          <a:prstGeom prst="roundRect">
            <a:avLst>
              <a:gd name="adj" fmla="val 10000"/>
            </a:avLst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7086600" y="4279392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pt-BR" sz="850" b="0" i="0" noProof="0" dirty="0">
                <a:solidFill>
                  <a:srgbClr val="112A3D"/>
                </a:solidFill>
                <a:latin typeface="Calibri"/>
              </a:rPr>
              <a:t>LOTE 3382 · R$ 4.500 = 3 títulos Beta  [Conciliar] [Detalhar]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544068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900" b="0" i="1" noProof="0" dirty="0">
                <a:solidFill>
                  <a:srgbClr val="5E7182"/>
                </a:solidFill>
                <a:latin typeface="Calibri"/>
              </a:rPr>
              <a:t>chat + cards de ação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2514600"/>
            <a:ext cx="2103120" cy="3383280"/>
          </a:xfrm>
          <a:prstGeom prst="roundRect">
            <a:avLst>
              <a:gd name="adj" fmla="val 6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9464040" y="26517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950" b="1" i="0" noProof="0" dirty="0">
                <a:solidFill>
                  <a:srgbClr val="0D2333"/>
                </a:solidFill>
                <a:latin typeface="Calibri"/>
              </a:rPr>
              <a:t>PENDÊNCIAS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64040" y="2971800"/>
            <a:ext cx="18288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9555480" y="3063240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pt-BR" sz="850" b="0" i="0" noProof="0" dirty="0">
                <a:solidFill>
                  <a:srgbClr val="112A3D"/>
                </a:solidFill>
                <a:latin typeface="Calibri"/>
              </a:rPr>
              <a:t>Retenção Gama · sugerido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64040" y="3648456"/>
            <a:ext cx="18288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9555480" y="3739896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pt-BR" sz="850" b="0" i="0" noProof="0" dirty="0">
                <a:solidFill>
                  <a:srgbClr val="112A3D"/>
                </a:solidFill>
                <a:latin typeface="Calibri"/>
              </a:rPr>
              <a:t>Parcial Delta · sugerido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64040" y="4325112"/>
            <a:ext cx="18288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9555480" y="4416552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pt-BR" sz="850" b="0" i="0" noProof="0" dirty="0">
                <a:solidFill>
                  <a:srgbClr val="112A3D"/>
                </a:solidFill>
                <a:latin typeface="Calibri"/>
              </a:rPr>
              <a:t>Tarifa R$ 45 · criar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64040" y="5001768"/>
            <a:ext cx="18288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9555480" y="5093208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pt-BR" sz="850" b="0" i="0" noProof="0" dirty="0">
                <a:solidFill>
                  <a:srgbClr val="112A3D"/>
                </a:solidFill>
                <a:latin typeface="Calibri"/>
              </a:rPr>
              <a:t>CR Sigma · sem mov.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5705856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900" b="0" i="1" noProof="0" dirty="0">
                <a:solidFill>
                  <a:srgbClr val="5E7182"/>
                </a:solidFill>
                <a:latin typeface="Calibri"/>
              </a:rPr>
              <a:t>fila do analista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6976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5E7182"/>
                </a:solidFill>
                <a:latin typeface="Calibri"/>
              </a:rPr>
              <a:t>OS DADOS DO CASE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O Apêndice: </a:t>
            </a:r>
            <a:r>
              <a:rPr lang="pt-BR" sz="3000" b="1" i="0" noProof="0" dirty="0">
                <a:solidFill>
                  <a:srgbClr val="0D2333"/>
                </a:solidFill>
                <a:latin typeface="Calibri"/>
              </a:rPr>
              <a:t>7 situações</a:t>
            </a: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, 4 níveis de 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553965"/>
              </p:ext>
            </p:extLst>
          </p:nvPr>
        </p:nvGraphicFramePr>
        <p:xfrm>
          <a:off x="548640" y="1554480"/>
          <a:ext cx="11091672" cy="4011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5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r>
                        <a:rPr lang="pt-BR" sz="1050" b="1" noProof="0" dirty="0">
                          <a:solidFill>
                            <a:srgbClr val="DFF25E"/>
                          </a:solidFill>
                          <a:latin typeface="Calibri"/>
                        </a:rPr>
                        <a:t>Extrato (</a:t>
                      </a:r>
                      <a:r>
                        <a:rPr lang="pt-BR" sz="1050" b="1" noProof="0" dirty="0" err="1">
                          <a:solidFill>
                            <a:srgbClr val="DFF25E"/>
                          </a:solidFill>
                          <a:latin typeface="Calibri"/>
                        </a:rPr>
                        <a:t>jun</a:t>
                      </a:r>
                      <a:r>
                        <a:rPr lang="pt-BR" sz="1050" b="1" noProof="0" dirty="0">
                          <a:solidFill>
                            <a:srgbClr val="DFF25E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73152" marR="54864" marT="27432" marB="27432" anchor="ctr"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b="1" noProof="0" dirty="0">
                          <a:solidFill>
                            <a:srgbClr val="DFF25E"/>
                          </a:solidFill>
                          <a:latin typeface="Calibri"/>
                        </a:rPr>
                        <a:t>Títulos em aberto na plataforma</a:t>
                      </a:r>
                    </a:p>
                  </a:txBody>
                  <a:tcPr marL="73152" marR="54864" marT="27432" marB="27432" anchor="ctr"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b="1" noProof="0" dirty="0">
                          <a:solidFill>
                            <a:srgbClr val="DFF25E"/>
                          </a:solidFill>
                          <a:latin typeface="Calibri"/>
                        </a:rPr>
                        <a:t>Situação</a:t>
                      </a:r>
                    </a:p>
                  </a:txBody>
                  <a:tcPr marL="73152" marR="54864" marT="27432" marB="27432" anchor="ctr"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b="1" noProof="0" dirty="0">
                          <a:solidFill>
                            <a:srgbClr val="DFF25E"/>
                          </a:solidFill>
                          <a:latin typeface="Calibri"/>
                        </a:rPr>
                        <a:t>Ação do agente</a:t>
                      </a:r>
                    </a:p>
                  </a:txBody>
                  <a:tcPr marL="73152" marR="54864" marT="27432" marB="27432" anchor="ctr">
                    <a:solidFill>
                      <a:srgbClr val="0D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05/06 · −3.200 · ALFA TEC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CP-001 (3.200)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1:1 exato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Concilia sozinho, com evidência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09/06 · +4.200 · OMEGA VAREJO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CR-002 (4.200)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1:1 exato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Concilia sozinho, com evidência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08/06 · +6.000 · JOAO P DA SILVA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CR-001 · Consultoria Silva ME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Divergência de nome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Sugere: valor + data batem; nome ≈ sócio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10/06 · −4.500 · LOTE 3382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CP-002+003+004 (3 × 1.500)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Pagamento em lote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Sugere agrupamento: soma exata, mesma contraparte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12/06 · −9.350 · GAMA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CP-005 (10.000)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Retenção de imposto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Sugere: 650 = ISS 5% + IRRF 1,5% — confirma antes de lançar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15/06 · −5.000 · DELTA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CP-006 (8.000)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Pagamento parcial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Sugere baixa parcial; mantém 3.000 em aberto</a:t>
                      </a:r>
                    </a:p>
                  </a:txBody>
                  <a:tcPr marL="73152" marR="54864" marT="27432" marB="27432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14/06 · −45 · TARIFA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— (sem lançamento)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Tarifa bancária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Propõe criar despesa; humano confirma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+mn-lt"/>
                        </a:rPr>
                        <a:t>— (sem lançamento)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+mn-lt"/>
                        </a:rPr>
                        <a:t>CR-003 · Sigma Ltda (20/06)</a:t>
                      </a:r>
                      <a:endParaRPr lang="pt-BR" sz="1050" noProof="0" dirty="0">
                        <a:solidFill>
                          <a:srgbClr val="112A3D"/>
                        </a:solidFill>
                        <a:latin typeface="Calibri"/>
                      </a:endParaRP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Em aberto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Sinaliza atraso e impacto no fluxo de caixa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058188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48640" y="5685282"/>
            <a:ext cx="11091672" cy="806958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5818446"/>
            <a:ext cx="10424160" cy="4456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pt-BR" sz="1350" b="0" i="0" noProof="0" dirty="0">
                <a:solidFill>
                  <a:srgbClr val="FFFFFF"/>
                </a:solidFill>
                <a:latin typeface="Calibri"/>
              </a:rPr>
              <a:t>CR-003 (Sigma, R$ 2.500, venc. 20/06) não tem linha no extrato. Não é erro de </a:t>
            </a:r>
            <a:r>
              <a:rPr lang="pt-BR" sz="1350" b="0" i="0" noProof="0" dirty="0" err="1">
                <a:solidFill>
                  <a:srgbClr val="FFFFFF"/>
                </a:solidFill>
                <a:latin typeface="Calibri"/>
              </a:rPr>
              <a:t>matching</a:t>
            </a:r>
            <a:r>
              <a:rPr lang="pt-BR" sz="1350" b="0" i="0" noProof="0" dirty="0">
                <a:solidFill>
                  <a:srgbClr val="FFFFFF"/>
                </a:solidFill>
                <a:latin typeface="Calibri"/>
              </a:rPr>
              <a:t> — é recebimento em atraso, e o agente o destaca porque afeta o saldo previsto no fluxo de caixa.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5E7182"/>
                </a:solidFill>
                <a:latin typeface="Calibri"/>
              </a:rPr>
              <a:t>USO DE IA COM JULGAMENTO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Autonomia proporcional ao </a:t>
            </a:r>
            <a:r>
              <a:rPr lang="pt-BR" sz="3000" b="1" i="0" noProof="0" dirty="0">
                <a:solidFill>
                  <a:srgbClr val="0D2333"/>
                </a:solidFill>
                <a:latin typeface="Calibri"/>
              </a:rPr>
              <a:t>risco financeiro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3639312" cy="3977639"/>
          </a:xfrm>
          <a:prstGeom prst="roundRect">
            <a:avLst>
              <a:gd name="adj" fmla="val 10000"/>
            </a:avLst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59" y="1828800"/>
            <a:ext cx="3108960" cy="20163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550" b="1" i="0" noProof="0" dirty="0">
                <a:solidFill>
                  <a:srgbClr val="0D2333"/>
                </a:solidFill>
                <a:latin typeface="Calibri"/>
              </a:rPr>
              <a:t>AGE SOZINHA</a:t>
            </a:r>
          </a:p>
          <a:p>
            <a:pPr algn="l">
              <a:spcAft>
                <a:spcPts val="1000"/>
              </a:spcAft>
            </a:pPr>
            <a:r>
              <a:rPr lang="pt-BR" sz="1200" b="0" i="1" noProof="0" dirty="0">
                <a:solidFill>
                  <a:srgbClr val="0D2333"/>
                </a:solidFill>
                <a:latin typeface="Calibri"/>
              </a:rPr>
              <a:t>Risco baixíssimo</a:t>
            </a:r>
          </a:p>
          <a:p>
            <a:pPr algn="l">
              <a:spcAft>
                <a:spcPts val="1000"/>
              </a:spcAft>
            </a:pPr>
            <a:endParaRPr lang="pt-BR" sz="1200" b="0" i="1" noProof="0" dirty="0">
              <a:solidFill>
                <a:srgbClr val="0D2333"/>
              </a:solidFill>
              <a:latin typeface="Calibri"/>
            </a:endParaRP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lang="pt-BR" sz="1150" b="0" i="0" noProof="0" dirty="0">
                <a:solidFill>
                  <a:srgbClr val="0D2333"/>
                </a:solidFill>
                <a:latin typeface="Calibri"/>
              </a:rPr>
              <a:t>•  Correspondência exata de valor + data próxima + contraparte compatível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lang="pt-BR" sz="1150" b="0" i="0" noProof="0" dirty="0">
                <a:solidFill>
                  <a:srgbClr val="0D2333"/>
                </a:solidFill>
                <a:latin typeface="Calibri"/>
              </a:rPr>
              <a:t>•  Casos do case: Alfa (CP-001) e Ômega (CR-002)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lang="pt-BR" sz="1150" b="0" i="0" noProof="0" dirty="0">
                <a:solidFill>
                  <a:srgbClr val="0D2333"/>
                </a:solidFill>
                <a:latin typeface="Calibri"/>
              </a:rPr>
              <a:t>•  Sempre com evidência anexada e desfazer a 1 clique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79392" y="1600200"/>
            <a:ext cx="3639312" cy="3977639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4553712" y="1828800"/>
            <a:ext cx="3108960" cy="2207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550" b="1" i="0" noProof="0" dirty="0">
                <a:solidFill>
                  <a:srgbClr val="FFFFFF"/>
                </a:solidFill>
                <a:latin typeface="Calibri"/>
              </a:rPr>
              <a:t>SUGERE E PEDE CONFIRMAÇÃO</a:t>
            </a:r>
          </a:p>
          <a:p>
            <a:pPr algn="l">
              <a:spcAft>
                <a:spcPts val="1000"/>
              </a:spcAft>
            </a:pPr>
            <a:r>
              <a:rPr lang="pt-BR" sz="1200" b="0" i="1" noProof="0" dirty="0">
                <a:solidFill>
                  <a:srgbClr val="FFFFFF"/>
                </a:solidFill>
                <a:latin typeface="Calibri"/>
              </a:rPr>
              <a:t>Ambiguidade controlada</a:t>
            </a:r>
          </a:p>
          <a:p>
            <a:pPr algn="l">
              <a:spcAft>
                <a:spcPts val="1000"/>
              </a:spcAft>
            </a:pPr>
            <a:endParaRPr lang="pt-BR" sz="1200" b="0" i="1" noProof="0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lang="pt-BR" sz="1150" b="0" i="0" noProof="0" dirty="0">
                <a:solidFill>
                  <a:srgbClr val="FFFFFF"/>
                </a:solidFill>
                <a:latin typeface="Calibri"/>
              </a:rPr>
              <a:t>•  Nome divergente, lote, retenção provável, pagamento parcial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lang="pt-BR" sz="1150" b="0" i="0" noProof="0" dirty="0">
                <a:solidFill>
                  <a:srgbClr val="FFFFFF"/>
                </a:solidFill>
                <a:latin typeface="Calibri"/>
              </a:rPr>
              <a:t>•  Score de confiança explicado: quais evidências sustentam a hipótese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lang="pt-BR" sz="1150" b="0" i="0" noProof="0" dirty="0">
                <a:solidFill>
                  <a:srgbClr val="FFFFFF"/>
                </a:solidFill>
                <a:latin typeface="Calibri"/>
              </a:rPr>
              <a:t>•  Humano confirma em 1 clique; edição fácil se discordar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1600200"/>
            <a:ext cx="3639312" cy="3977639"/>
          </a:xfrm>
          <a:prstGeom prst="roundRect">
            <a:avLst>
              <a:gd name="adj" fmla="val 10000"/>
            </a:avLst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8284464" y="1828800"/>
            <a:ext cx="3108960" cy="2207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550" b="1" i="0" noProof="0" dirty="0">
                <a:solidFill>
                  <a:srgbClr val="C9D8E8"/>
                </a:solidFill>
                <a:latin typeface="Calibri"/>
              </a:rPr>
              <a:t>ESCALA PARA O HUMANO</a:t>
            </a:r>
          </a:p>
          <a:p>
            <a:pPr algn="l">
              <a:spcAft>
                <a:spcPts val="1000"/>
              </a:spcAft>
            </a:pPr>
            <a:r>
              <a:rPr lang="pt-BR" sz="1200" b="0" i="1" noProof="0" dirty="0">
                <a:solidFill>
                  <a:srgbClr val="C9D8E8"/>
                </a:solidFill>
                <a:latin typeface="Calibri"/>
              </a:rPr>
              <a:t>Risco financeiro real</a:t>
            </a:r>
          </a:p>
          <a:p>
            <a:pPr algn="l">
              <a:spcAft>
                <a:spcPts val="1000"/>
              </a:spcAft>
            </a:pPr>
            <a:endParaRPr lang="pt-BR" sz="1200" b="0" i="1" noProof="0" dirty="0">
              <a:solidFill>
                <a:srgbClr val="C9D8E8"/>
              </a:solidFill>
              <a:latin typeface="Calibri"/>
            </a:endParaRP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lang="pt-BR" sz="1150" b="0" i="0" noProof="0" dirty="0">
                <a:solidFill>
                  <a:srgbClr val="C9D8E8"/>
                </a:solidFill>
                <a:latin typeface="Calibri"/>
              </a:rPr>
              <a:t>•  Criação/alteração de lançamento (tarifa, imposto), múltiplas hipóteses plausíveis, valor alto ou baixa confiança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lang="pt-BR" sz="1150" b="0" i="0" noProof="0" dirty="0">
                <a:solidFill>
                  <a:srgbClr val="C9D8E8"/>
                </a:solidFill>
                <a:latin typeface="Calibri"/>
              </a:rPr>
              <a:t>•  O agente prepara o contexto e as opções; o humano decide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lang="pt-BR" sz="1150" b="0" i="0" noProof="0" dirty="0">
                <a:solidFill>
                  <a:srgbClr val="C9D8E8"/>
                </a:solidFill>
                <a:latin typeface="Calibri"/>
              </a:rPr>
              <a:t>•  Nada de baixa automática irreversível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pt-BR" sz="1300" b="1" i="0" noProof="0" dirty="0">
                <a:solidFill>
                  <a:srgbClr val="0D2333"/>
                </a:solidFill>
                <a:latin typeface="Calibri"/>
              </a:rPr>
              <a:t>Regra de ouro: </a:t>
            </a:r>
            <a:r>
              <a:rPr lang="pt-BR" sz="1300" b="0" i="0" noProof="0" dirty="0">
                <a:solidFill>
                  <a:srgbClr val="112A3D"/>
                </a:solidFill>
                <a:latin typeface="Calibri"/>
              </a:rPr>
              <a:t>a IA nunca cria fato financeiro sem confirmação humana — ela prepara a decisão. Autonomia se ganha com histórico (regras aprendidas ficam para a evolução, não para a v1).</a:t>
            </a:r>
          </a:p>
        </p:txBody>
      </p:sp>
      <p:pic>
        <p:nvPicPr>
          <p:cNvPr id="10" name="Picture 2" descr="Kamino raises $10M in a round led by Flourish and Quona - LatamList">
            <a:extLst>
              <a:ext uri="{FF2B5EF4-FFF2-40B4-BE49-F238E27FC236}">
                <a16:creationId xmlns:a16="http://schemas.microsoft.com/office/drawing/2014/main" id="{9D0201E2-A50E-B3C9-7FFA-B6D431F9F3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56"/>
          <a:stretch>
            <a:fillRect/>
          </a:stretch>
        </p:blipFill>
        <p:spPr bwMode="auto">
          <a:xfrm>
            <a:off x="9792928" y="-1"/>
            <a:ext cx="2399071" cy="105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5E7182"/>
                </a:solidFill>
                <a:latin typeface="Calibri"/>
              </a:rPr>
              <a:t>PLANO DE ENTREGA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Como eu tocaria na </a:t>
            </a:r>
            <a:r>
              <a:rPr lang="pt-BR" sz="3000" b="1" i="0" noProof="0" dirty="0">
                <a:solidFill>
                  <a:srgbClr val="0D2333"/>
                </a:solidFill>
                <a:latin typeface="Calibri"/>
              </a:rPr>
              <a:t>vida real</a:t>
            </a: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: esforço, </a:t>
            </a:r>
            <a:r>
              <a:rPr lang="pt-BR" sz="3000" b="1" i="0" noProof="0" dirty="0" err="1">
                <a:solidFill>
                  <a:srgbClr val="112A3D"/>
                </a:solidFill>
                <a:latin typeface="Calibri"/>
              </a:rPr>
              <a:t>capacity</a:t>
            </a: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 e prazo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2157984" cy="288036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Oval 3"/>
          <p:cNvSpPr/>
          <p:nvPr/>
        </p:nvSpPr>
        <p:spPr>
          <a:xfrm>
            <a:off x="749808" y="178308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300" b="1" noProof="0" dirty="0">
                <a:solidFill>
                  <a:srgbClr val="0D2333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359152"/>
            <a:ext cx="1783080" cy="11495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lang="pt-BR" sz="1400" b="1" i="0" noProof="0" dirty="0">
                <a:solidFill>
                  <a:srgbClr val="0D2333"/>
                </a:solidFill>
                <a:latin typeface="Calibri"/>
              </a:rPr>
              <a:t>Discovery + design</a:t>
            </a:r>
          </a:p>
          <a:p>
            <a:pPr algn="l">
              <a:spcAft>
                <a:spcPts val="500"/>
              </a:spcAft>
            </a:pPr>
            <a:r>
              <a:rPr lang="pt-BR" sz="1300" b="1" dirty="0">
                <a:solidFill>
                  <a:srgbClr val="5E7182"/>
                </a:solidFill>
                <a:latin typeface="Calibri"/>
              </a:rPr>
              <a:t>2</a:t>
            </a:r>
            <a:r>
              <a:rPr lang="pt-BR" sz="1300" b="1" i="0" noProof="0" dirty="0">
                <a:solidFill>
                  <a:srgbClr val="5E7182"/>
                </a:solidFill>
                <a:latin typeface="Calibri"/>
              </a:rPr>
              <a:t> sem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000" b="0" i="0" noProof="0" dirty="0" err="1">
                <a:solidFill>
                  <a:srgbClr val="112A3D"/>
                </a:solidFill>
                <a:latin typeface="Calibri"/>
              </a:rPr>
              <a:t>Spikes</a:t>
            </a:r>
            <a:r>
              <a:rPr lang="pt-BR" sz="1000" b="0" i="0" noProof="0" dirty="0">
                <a:solidFill>
                  <a:srgbClr val="112A3D"/>
                </a:solidFill>
                <a:latin typeface="Calibri"/>
              </a:rPr>
              <a:t> de </a:t>
            </a:r>
            <a:r>
              <a:rPr lang="pt-BR" sz="1000" b="0" i="0" noProof="0" dirty="0" err="1">
                <a:solidFill>
                  <a:srgbClr val="112A3D"/>
                </a:solidFill>
                <a:latin typeface="Calibri"/>
              </a:rPr>
              <a:t>matching</a:t>
            </a:r>
            <a:r>
              <a:rPr lang="pt-BR" sz="1000" b="0" i="0" noProof="0" dirty="0">
                <a:solidFill>
                  <a:srgbClr val="112A3D"/>
                </a:solidFill>
                <a:latin typeface="Calibri"/>
              </a:rPr>
              <a:t> com dados reais de clientes; protótipo validado com 5 clientes; corte de escopo do MVP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92984" y="1610360"/>
            <a:ext cx="2157984" cy="288036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Oval 6"/>
          <p:cNvSpPr/>
          <p:nvPr/>
        </p:nvSpPr>
        <p:spPr>
          <a:xfrm>
            <a:off x="3024632" y="178308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300" b="1" noProof="0" dirty="0">
                <a:solidFill>
                  <a:srgbClr val="0D2333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24632" y="2359152"/>
            <a:ext cx="1783080" cy="11495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lang="pt-BR" sz="1400" b="1" i="0" noProof="0" dirty="0">
                <a:solidFill>
                  <a:srgbClr val="0D2333"/>
                </a:solidFill>
                <a:latin typeface="Calibri"/>
              </a:rPr>
              <a:t>Build do MVP</a:t>
            </a:r>
          </a:p>
          <a:p>
            <a:pPr algn="l">
              <a:spcAft>
                <a:spcPts val="500"/>
              </a:spcAft>
            </a:pPr>
            <a:r>
              <a:rPr lang="pt-BR" sz="1300" b="1" dirty="0">
                <a:solidFill>
                  <a:srgbClr val="5E7182"/>
                </a:solidFill>
                <a:latin typeface="Calibri"/>
              </a:rPr>
              <a:t>3</a:t>
            </a:r>
            <a:r>
              <a:rPr lang="pt-BR" sz="1300" b="1" i="0" noProof="0" dirty="0">
                <a:solidFill>
                  <a:srgbClr val="5E7182"/>
                </a:solidFill>
                <a:latin typeface="Calibri"/>
              </a:rPr>
              <a:t> sem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000" b="0" i="0" noProof="0" dirty="0">
                <a:solidFill>
                  <a:srgbClr val="112A3D"/>
                </a:solidFill>
                <a:latin typeface="Calibri"/>
              </a:rPr>
              <a:t>Motor de conciliação + trilha de auditoria + agente com UI generativa; </a:t>
            </a:r>
            <a:r>
              <a:rPr lang="pt-BR" sz="1000" b="0" i="0" noProof="0" dirty="0" err="1">
                <a:solidFill>
                  <a:srgbClr val="112A3D"/>
                </a:solidFill>
                <a:latin typeface="Calibri"/>
              </a:rPr>
              <a:t>hardening</a:t>
            </a:r>
            <a:r>
              <a:rPr lang="pt-BR" sz="1000" b="0" i="0" noProof="0" dirty="0">
                <a:solidFill>
                  <a:srgbClr val="112A3D"/>
                </a:solidFill>
                <a:latin typeface="Calibri"/>
              </a:rPr>
              <a:t> e permissões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7167" y="1610360"/>
            <a:ext cx="2157984" cy="288036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Oval 9"/>
          <p:cNvSpPr/>
          <p:nvPr/>
        </p:nvSpPr>
        <p:spPr>
          <a:xfrm>
            <a:off x="5279135" y="178308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300" b="1" noProof="0" dirty="0">
                <a:solidFill>
                  <a:srgbClr val="0D2333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9135" y="2359152"/>
            <a:ext cx="1783080" cy="9833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lang="pt-BR" sz="1400" b="1" i="0" noProof="0" dirty="0">
                <a:solidFill>
                  <a:srgbClr val="0D2333"/>
                </a:solidFill>
                <a:latin typeface="Calibri"/>
              </a:rPr>
              <a:t>Piloto</a:t>
            </a:r>
          </a:p>
          <a:p>
            <a:pPr algn="l">
              <a:spcAft>
                <a:spcPts val="500"/>
              </a:spcAft>
            </a:pPr>
            <a:r>
              <a:rPr lang="pt-BR" sz="1300" b="1" dirty="0">
                <a:solidFill>
                  <a:srgbClr val="5E7182"/>
                </a:solidFill>
                <a:latin typeface="Calibri"/>
              </a:rPr>
              <a:t>4</a:t>
            </a:r>
            <a:r>
              <a:rPr lang="pt-BR" sz="1300" b="1" i="0" noProof="0" dirty="0">
                <a:solidFill>
                  <a:srgbClr val="5E7182"/>
                </a:solidFill>
                <a:latin typeface="Calibri"/>
              </a:rPr>
              <a:t> sem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000" b="0" i="0" noProof="0" dirty="0">
                <a:solidFill>
                  <a:srgbClr val="112A3D"/>
                </a:solidFill>
                <a:latin typeface="Calibri"/>
              </a:rPr>
              <a:t>5–10 clientes perfil Acme, 2 ciclos reais de fechamento; CS junto; critérios de saída definidos antes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1351" y="1610360"/>
            <a:ext cx="2157984" cy="288036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Oval 12"/>
          <p:cNvSpPr/>
          <p:nvPr/>
        </p:nvSpPr>
        <p:spPr>
          <a:xfrm>
            <a:off x="7513320" y="178308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300" b="1" noProof="0" dirty="0">
                <a:solidFill>
                  <a:srgbClr val="0D2333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3320" y="2359152"/>
            <a:ext cx="1783080" cy="9833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lang="pt-BR" sz="1400" b="1" i="0" noProof="0" dirty="0" err="1">
                <a:solidFill>
                  <a:srgbClr val="0D2333"/>
                </a:solidFill>
                <a:latin typeface="Calibri"/>
              </a:rPr>
              <a:t>Rollout</a:t>
            </a:r>
            <a:r>
              <a:rPr lang="pt-BR" sz="1400" b="1" i="0" noProof="0" dirty="0">
                <a:solidFill>
                  <a:srgbClr val="0D2333"/>
                </a:solidFill>
                <a:latin typeface="Calibri"/>
              </a:rPr>
              <a:t> controlado</a:t>
            </a:r>
          </a:p>
          <a:p>
            <a:pPr algn="l">
              <a:spcAft>
                <a:spcPts val="500"/>
              </a:spcAft>
            </a:pPr>
            <a:r>
              <a:rPr lang="pt-BR" sz="1300" b="1" dirty="0">
                <a:solidFill>
                  <a:srgbClr val="5E7182"/>
                </a:solidFill>
                <a:latin typeface="Calibri"/>
              </a:rPr>
              <a:t>4</a:t>
            </a:r>
            <a:r>
              <a:rPr lang="pt-BR" sz="1300" b="1" i="0" noProof="0" dirty="0">
                <a:solidFill>
                  <a:srgbClr val="5E7182"/>
                </a:solidFill>
                <a:latin typeface="Calibri"/>
              </a:rPr>
              <a:t> sem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000" b="0" i="0" noProof="0" dirty="0">
                <a:solidFill>
                  <a:srgbClr val="112A3D"/>
                </a:solidFill>
                <a:latin typeface="Calibri"/>
              </a:rPr>
              <a:t>Coortes por perfil, feature flag, régua de progressão por KPI; </a:t>
            </a:r>
            <a:r>
              <a:rPr lang="pt-BR" sz="1000" b="0" i="0" noProof="0" dirty="0" err="1">
                <a:solidFill>
                  <a:srgbClr val="112A3D"/>
                </a:solidFill>
                <a:latin typeface="Calibri"/>
              </a:rPr>
              <a:t>rollback</a:t>
            </a:r>
            <a:r>
              <a:rPr lang="pt-BR" sz="1000" b="0" i="0" noProof="0" dirty="0">
                <a:solidFill>
                  <a:srgbClr val="112A3D"/>
                </a:solidFill>
                <a:latin typeface="Calibri"/>
              </a:rPr>
              <a:t> pronto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85375" y="1610360"/>
            <a:ext cx="2157984" cy="288036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Oval 15"/>
          <p:cNvSpPr/>
          <p:nvPr/>
        </p:nvSpPr>
        <p:spPr>
          <a:xfrm>
            <a:off x="9727184" y="178308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300" b="1" noProof="0" dirty="0">
                <a:solidFill>
                  <a:srgbClr val="0D2333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7184" y="2359152"/>
            <a:ext cx="17830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lang="pt-BR" sz="1400" b="1" i="0" noProof="0" dirty="0">
                <a:solidFill>
                  <a:srgbClr val="0D2333"/>
                </a:solidFill>
                <a:latin typeface="Calibri"/>
              </a:rPr>
              <a:t>GA</a:t>
            </a:r>
          </a:p>
          <a:p>
            <a:pPr algn="l">
              <a:spcAft>
                <a:spcPts val="500"/>
              </a:spcAft>
            </a:pPr>
            <a:r>
              <a:rPr lang="pt-BR" sz="1300" b="1" i="0" noProof="0" dirty="0">
                <a:solidFill>
                  <a:srgbClr val="5E7182"/>
                </a:solidFill>
                <a:latin typeface="Calibri"/>
              </a:rPr>
              <a:t>—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000" b="0" i="0" noProof="0" dirty="0">
                <a:solidFill>
                  <a:srgbClr val="112A3D"/>
                </a:solidFill>
                <a:latin typeface="Calibri"/>
              </a:rPr>
              <a:t>Disponível para a base; inicia evolução: regras aprendidas, </a:t>
            </a:r>
            <a:r>
              <a:rPr lang="pt-BR" sz="1000" b="0" i="0" noProof="0" dirty="0" err="1">
                <a:solidFill>
                  <a:srgbClr val="112A3D"/>
                </a:solidFill>
                <a:latin typeface="Calibri"/>
              </a:rPr>
              <a:t>multi-conta</a:t>
            </a:r>
            <a:r>
              <a:rPr lang="pt-BR" sz="1000" b="0" i="0" noProof="0" dirty="0">
                <a:solidFill>
                  <a:srgbClr val="112A3D"/>
                </a:solidFill>
                <a:latin typeface="Calibri"/>
              </a:rPr>
              <a:t>, ações em massa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54880"/>
            <a:ext cx="6766560" cy="160020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914400" y="4956048"/>
            <a:ext cx="6126480" cy="8976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DFF25E"/>
                </a:solidFill>
                <a:latin typeface="Calibri"/>
              </a:rPr>
              <a:t>SQUAD (CAPACITY)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lang="pt-BR" sz="1250" b="0" i="0" noProof="0" dirty="0">
                <a:solidFill>
                  <a:srgbClr val="FFFFFF"/>
                </a:solidFill>
                <a:latin typeface="Calibri"/>
              </a:rPr>
              <a:t>1 PM · 1 </a:t>
            </a:r>
            <a:r>
              <a:rPr lang="pt-BR" sz="1250" b="0" i="0" noProof="0" dirty="0" err="1">
                <a:solidFill>
                  <a:srgbClr val="FFFFFF"/>
                </a:solidFill>
                <a:latin typeface="Calibri"/>
              </a:rPr>
              <a:t>Product</a:t>
            </a:r>
            <a:r>
              <a:rPr lang="pt-BR" sz="1250" b="0" i="0" noProof="0" dirty="0">
                <a:solidFill>
                  <a:srgbClr val="FFFFFF"/>
                </a:solidFill>
                <a:latin typeface="Calibri"/>
              </a:rPr>
              <a:t> Designer · 1 Tech Lead + 3 </a:t>
            </a:r>
            <a:r>
              <a:rPr lang="pt-BR" sz="1250" b="0" i="0" noProof="0" dirty="0" err="1">
                <a:solidFill>
                  <a:srgbClr val="FFFFFF"/>
                </a:solidFill>
                <a:latin typeface="Calibri"/>
              </a:rPr>
              <a:t>eng</a:t>
            </a:r>
            <a:r>
              <a:rPr lang="pt-BR" sz="1250" b="0" i="0" noProof="0" dirty="0">
                <a:solidFill>
                  <a:srgbClr val="FFFFFF"/>
                </a:solidFill>
                <a:latin typeface="Calibri"/>
              </a:rPr>
              <a:t> (2 </a:t>
            </a:r>
            <a:r>
              <a:rPr lang="pt-BR" sz="1250" b="0" i="0" noProof="0" dirty="0" err="1">
                <a:solidFill>
                  <a:srgbClr val="FFFFFF"/>
                </a:solidFill>
                <a:latin typeface="Calibri"/>
              </a:rPr>
              <a:t>back</a:t>
            </a:r>
            <a:r>
              <a:rPr lang="pt-BR" sz="1250" b="0" i="0" noProof="0" dirty="0">
                <a:solidFill>
                  <a:srgbClr val="FFFFFF"/>
                </a:solidFill>
                <a:latin typeface="Calibri"/>
              </a:rPr>
              <a:t>, 1 front) · 1 </a:t>
            </a:r>
            <a:r>
              <a:rPr lang="pt-BR" sz="1250" b="0" i="0" noProof="0" dirty="0" err="1">
                <a:solidFill>
                  <a:srgbClr val="FFFFFF"/>
                </a:solidFill>
                <a:latin typeface="Calibri"/>
              </a:rPr>
              <a:t>eng</a:t>
            </a:r>
            <a:r>
              <a:rPr lang="pt-BR" sz="1250" b="0" i="0" noProof="0" dirty="0">
                <a:solidFill>
                  <a:srgbClr val="FFFFFF"/>
                </a:solidFill>
                <a:latin typeface="Calibri"/>
              </a:rPr>
              <a:t> de dados/ML em tempo parcial · CX/CS dedicados no piloto  ≈  6,5 </a:t>
            </a:r>
            <a:r>
              <a:rPr lang="pt-BR" sz="1250" b="0" i="0" noProof="0" dirty="0" err="1">
                <a:solidFill>
                  <a:srgbClr val="FFFFFF"/>
                </a:solidFill>
                <a:latin typeface="Calibri"/>
              </a:rPr>
              <a:t>FTEs</a:t>
            </a:r>
            <a:endParaRPr lang="pt-BR" sz="1250" b="0" i="0" noProof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0"/>
              </a:spcAft>
            </a:pPr>
            <a:r>
              <a:rPr lang="pt-BR" sz="1250" b="1" i="0" noProof="0" dirty="0">
                <a:solidFill>
                  <a:srgbClr val="DFF25E"/>
                </a:solidFill>
                <a:latin typeface="Calibri"/>
              </a:rPr>
              <a:t>~3 meses do </a:t>
            </a:r>
            <a:r>
              <a:rPr lang="pt-BR" sz="1250" b="1" i="0" noProof="0" dirty="0" err="1">
                <a:solidFill>
                  <a:srgbClr val="DFF25E"/>
                </a:solidFill>
                <a:latin typeface="Calibri"/>
              </a:rPr>
              <a:t>kickoff</a:t>
            </a:r>
            <a:r>
              <a:rPr lang="pt-BR" sz="1250" b="1" i="0" noProof="0" dirty="0">
                <a:solidFill>
                  <a:srgbClr val="DFF25E"/>
                </a:solidFill>
                <a:latin typeface="Calibri"/>
              </a:rPr>
              <a:t> ao GA, perfeitamente funcional.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4754880"/>
            <a:ext cx="4142232" cy="1600200"/>
          </a:xfrm>
          <a:prstGeom prst="roundRect">
            <a:avLst>
              <a:gd name="adj" fmla="val 10000"/>
            </a:avLst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7818120" y="4956048"/>
            <a:ext cx="352044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0D2333"/>
                </a:solidFill>
                <a:latin typeface="Calibri"/>
              </a:rPr>
              <a:t>PREMISSAS DA ESTIMATIVA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pt-BR" sz="1100" b="0" i="0" noProof="0" dirty="0">
                <a:solidFill>
                  <a:srgbClr val="112A3D"/>
                </a:solidFill>
                <a:latin typeface="Calibri"/>
              </a:rPr>
              <a:t>Estimativa de partida, calibrada em </a:t>
            </a:r>
            <a:r>
              <a:rPr lang="pt-BR" sz="1100" b="0" i="0" noProof="0" dirty="0" err="1">
                <a:solidFill>
                  <a:srgbClr val="112A3D"/>
                </a:solidFill>
                <a:latin typeface="Calibri"/>
              </a:rPr>
              <a:t>planning</a:t>
            </a:r>
            <a:r>
              <a:rPr lang="pt-BR" sz="1100" b="0" i="0" noProof="0" dirty="0">
                <a:solidFill>
                  <a:srgbClr val="112A3D"/>
                </a:solidFill>
                <a:latin typeface="Calibri"/>
              </a:rPr>
              <a:t> com engenharia. Assume extrato já integrado (banco próprio + Open </a:t>
            </a:r>
            <a:r>
              <a:rPr lang="pt-BR" sz="1100" b="0" i="0" noProof="0" dirty="0" err="1">
                <a:solidFill>
                  <a:srgbClr val="112A3D"/>
                </a:solidFill>
                <a:latin typeface="Calibri"/>
              </a:rPr>
              <a:t>Finance</a:t>
            </a:r>
            <a:r>
              <a:rPr lang="pt-BR" sz="1100" b="0" i="0" noProof="0" dirty="0">
                <a:solidFill>
                  <a:srgbClr val="112A3D"/>
                </a:solidFill>
                <a:latin typeface="Calibri"/>
              </a:rPr>
              <a:t>) e aproveita o motor de lote/</a:t>
            </a:r>
            <a:r>
              <a:rPr lang="pt-BR" sz="1100" b="0" i="0" noProof="0" dirty="0" err="1">
                <a:solidFill>
                  <a:srgbClr val="112A3D"/>
                </a:solidFill>
                <a:latin typeface="Calibri"/>
              </a:rPr>
              <a:t>Sispag</a:t>
            </a:r>
            <a:r>
              <a:rPr lang="pt-BR" sz="1100" b="0" i="0" noProof="0" dirty="0">
                <a:solidFill>
                  <a:srgbClr val="112A3D"/>
                </a:solidFill>
                <a:latin typeface="Calibri"/>
              </a:rPr>
              <a:t> existente.</a:t>
            </a:r>
          </a:p>
        </p:txBody>
      </p:sp>
      <p:pic>
        <p:nvPicPr>
          <p:cNvPr id="22" name="Picture 2" descr="Kamino raises $10M in a round led by Flourish and Quona - LatamList">
            <a:extLst>
              <a:ext uri="{FF2B5EF4-FFF2-40B4-BE49-F238E27FC236}">
                <a16:creationId xmlns:a16="http://schemas.microsoft.com/office/drawing/2014/main" id="{0F5A5F90-E6DF-BE00-11AE-F988A86CD3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56"/>
          <a:stretch>
            <a:fillRect/>
          </a:stretch>
        </p:blipFill>
        <p:spPr bwMode="auto">
          <a:xfrm>
            <a:off x="9792928" y="-1"/>
            <a:ext cx="2399071" cy="105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5E7182"/>
                </a:solidFill>
                <a:latin typeface="Calibri"/>
              </a:rPr>
              <a:t>DO CASE AO PRODUTO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Faseamento de entrega e </a:t>
            </a:r>
            <a:r>
              <a:rPr lang="pt-BR" sz="3000" b="1" i="0" noProof="0" dirty="0">
                <a:solidFill>
                  <a:srgbClr val="0D2333"/>
                </a:solidFill>
                <a:latin typeface="Calibri"/>
              </a:rPr>
              <a:t>KPIs</a:t>
            </a:r>
            <a:r>
              <a:rPr lang="pt-BR" sz="3000" b="1" i="0" noProof="0" dirty="0">
                <a:solidFill>
                  <a:srgbClr val="112A3D"/>
                </a:solidFill>
                <a:latin typeface="Calibri"/>
              </a:rPr>
              <a:t> de sucesso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5577840" cy="1298448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1792224"/>
            <a:ext cx="5029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sz="1400" b="1" i="0" noProof="0" dirty="0">
                <a:solidFill>
                  <a:srgbClr val="0D2333"/>
                </a:solidFill>
                <a:latin typeface="Calibri"/>
              </a:rPr>
              <a:t>MVP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150" b="0" i="0" noProof="0" dirty="0">
                <a:solidFill>
                  <a:srgbClr val="112A3D"/>
                </a:solidFill>
                <a:latin typeface="Calibri"/>
              </a:rPr>
              <a:t>Conciliação de 1 conta: </a:t>
            </a:r>
            <a:r>
              <a:rPr lang="pt-BR" sz="1150" b="0" i="0" noProof="0" dirty="0" err="1">
                <a:solidFill>
                  <a:srgbClr val="112A3D"/>
                </a:solidFill>
                <a:latin typeface="Calibri"/>
              </a:rPr>
              <a:t>matching</a:t>
            </a:r>
            <a:r>
              <a:rPr lang="pt-BR" sz="1150" b="0" i="0" noProof="0" dirty="0">
                <a:solidFill>
                  <a:srgbClr val="112A3D"/>
                </a:solidFill>
                <a:latin typeface="Calibri"/>
              </a:rPr>
              <a:t> automático 1:1, sugestões explicadas para os 5 tipos de exceção, trilha de auditoria e desfazer.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072384"/>
            <a:ext cx="5577840" cy="1298448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822960" y="3218688"/>
            <a:ext cx="5029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sz="1400" b="1" i="0" noProof="0" dirty="0">
                <a:solidFill>
                  <a:srgbClr val="0D2333"/>
                </a:solidFill>
                <a:latin typeface="Calibri"/>
              </a:rPr>
              <a:t>BETA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150" b="0" i="0" noProof="0" dirty="0">
                <a:solidFill>
                  <a:srgbClr val="112A3D"/>
                </a:solidFill>
                <a:latin typeface="Calibri"/>
              </a:rPr>
              <a:t>5–10 clientes com perfil Acme, 2 ciclos de fechamento completos, CS acompanhando; critérios de saída definidos antes de entrar.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498848"/>
            <a:ext cx="5577840" cy="1298448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822960" y="4645152"/>
            <a:ext cx="5029200" cy="8184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sz="1400" b="1" i="0" noProof="0" dirty="0">
                <a:solidFill>
                  <a:srgbClr val="0D2333"/>
                </a:solidFill>
                <a:latin typeface="Calibri"/>
              </a:rPr>
              <a:t>GA / EVOLUÇÃO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pt-BR" sz="1150" b="0" i="0" noProof="0" dirty="0" err="1">
                <a:solidFill>
                  <a:srgbClr val="112A3D"/>
                </a:solidFill>
                <a:latin typeface="Calibri"/>
              </a:rPr>
              <a:t>Multi-conta</a:t>
            </a:r>
            <a:r>
              <a:rPr lang="pt-BR" sz="1150" b="0" i="0" noProof="0" dirty="0">
                <a:solidFill>
                  <a:srgbClr val="112A3D"/>
                </a:solidFill>
                <a:latin typeface="Calibri"/>
              </a:rPr>
              <a:t>, ações em massa via chat, regras aprendidas (ex.: tarifa recorrente), importação automática via banco integrado</a:t>
            </a:r>
            <a:r>
              <a:rPr lang="pt-BR" sz="1150" dirty="0">
                <a:solidFill>
                  <a:srgbClr val="112A3D"/>
                </a:solidFill>
                <a:latin typeface="Calibri"/>
              </a:rPr>
              <a:t>, outros procedimentos financeiros de grande impacto operacional.</a:t>
            </a:r>
            <a:endParaRPr lang="pt-BR" sz="1150" b="0" i="0" noProof="0" dirty="0">
              <a:solidFill>
                <a:srgbClr val="112A3D"/>
              </a:solidFill>
              <a:latin typeface="Calibri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142098"/>
              </p:ext>
            </p:extLst>
          </p:nvPr>
        </p:nvGraphicFramePr>
        <p:xfrm>
          <a:off x="6400800" y="1645920"/>
          <a:ext cx="523951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1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r>
                        <a:rPr lang="pt-BR" sz="1150" b="1" noProof="0" dirty="0">
                          <a:solidFill>
                            <a:srgbClr val="DFF25E"/>
                          </a:solidFill>
                          <a:latin typeface="Calibri"/>
                        </a:rPr>
                        <a:t>KPI</a:t>
                      </a:r>
                    </a:p>
                  </a:txBody>
                  <a:tcPr marL="73152" marR="54864" anchor="ctr"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 b="1" noProof="0" dirty="0">
                          <a:solidFill>
                            <a:srgbClr val="DFF25E"/>
                          </a:solidFill>
                          <a:latin typeface="Calibri"/>
                        </a:rPr>
                        <a:t>Meta (beta)</a:t>
                      </a:r>
                    </a:p>
                  </a:txBody>
                  <a:tcPr marL="73152" marR="54864" anchor="ctr">
                    <a:solidFill>
                      <a:srgbClr val="0D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lang="pt-BR" sz="11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% de linhas do extrato conciliadas sem toque humano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 b="1" noProof="0" dirty="0">
                          <a:solidFill>
                            <a:srgbClr val="0D2333"/>
                          </a:solidFill>
                          <a:latin typeface="Calibri"/>
                        </a:rPr>
                        <a:t>≥ 60%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lang="pt-BR" sz="11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Tempo de fechamento mensal</a:t>
                      </a:r>
                    </a:p>
                  </a:txBody>
                  <a:tcPr marL="73152" marR="54864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 b="1" noProof="0" dirty="0">
                          <a:solidFill>
                            <a:srgbClr val="0D2333"/>
                          </a:solidFill>
                          <a:latin typeface="Calibri"/>
                        </a:rPr>
                        <a:t>de horas p/ &lt; 30 min</a:t>
                      </a:r>
                    </a:p>
                  </a:txBody>
                  <a:tcPr marL="73152" marR="54864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lang="pt-BR" sz="11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% de sugestões aceitas sem edição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 b="1" noProof="0" dirty="0">
                          <a:solidFill>
                            <a:srgbClr val="0D2333"/>
                          </a:solidFill>
                          <a:latin typeface="Calibri"/>
                        </a:rPr>
                        <a:t>≥ 80%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lang="pt-BR" sz="11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Taxa de reversão de conciliações (proxy de confiança)</a:t>
                      </a:r>
                    </a:p>
                  </a:txBody>
                  <a:tcPr marL="73152" marR="54864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 b="1" noProof="0" dirty="0">
                          <a:solidFill>
                            <a:srgbClr val="0D2333"/>
                          </a:solidFill>
                          <a:latin typeface="Calibri"/>
                        </a:rPr>
                        <a:t>&lt; 2%</a:t>
                      </a:r>
                    </a:p>
                  </a:txBody>
                  <a:tcPr marL="73152" marR="54864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lang="pt-BR" sz="1150" noProof="0" dirty="0">
                          <a:solidFill>
                            <a:srgbClr val="112A3D"/>
                          </a:solidFill>
                          <a:latin typeface="Calibri"/>
                        </a:rPr>
                        <a:t>% do extrato explicado (métrica-mãe do usuário)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50" b="1" noProof="0" dirty="0">
                          <a:solidFill>
                            <a:srgbClr val="0D2333"/>
                          </a:solidFill>
                          <a:latin typeface="Calibri"/>
                        </a:rPr>
                        <a:t>100% ao fechar</a:t>
                      </a:r>
                    </a:p>
                  </a:txBody>
                  <a:tcPr marL="73152" marR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943600"/>
            <a:ext cx="11064240" cy="176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1150" b="0" i="1" noProof="0" dirty="0">
                <a:solidFill>
                  <a:srgbClr val="5E7182"/>
                </a:solidFill>
                <a:latin typeface="Calibri"/>
              </a:rPr>
              <a:t>Metas são hipóteses de partida </a:t>
            </a:r>
            <a:r>
              <a:rPr lang="pt-BR" sz="1150" i="1" noProof="0" dirty="0">
                <a:solidFill>
                  <a:srgbClr val="5E7182"/>
                </a:solidFill>
              </a:rPr>
              <a:t>— calibradas no piloto com engenharia e CS, não prometidas antes de medir. São elas que autorizam cada coorte do </a:t>
            </a:r>
            <a:r>
              <a:rPr lang="pt-BR" sz="1150" i="1" noProof="0" dirty="0" err="1">
                <a:solidFill>
                  <a:srgbClr val="5E7182"/>
                </a:solidFill>
              </a:rPr>
              <a:t>rollout</a:t>
            </a:r>
            <a:r>
              <a:rPr lang="pt-BR" sz="1150" i="1" noProof="0" dirty="0">
                <a:solidFill>
                  <a:srgbClr val="5E7182"/>
                </a:solidFill>
              </a:rPr>
              <a:t>.</a:t>
            </a:r>
            <a:endParaRPr lang="pt-BR" sz="1150" b="0" i="1" noProof="0" dirty="0">
              <a:solidFill>
                <a:srgbClr val="5E7182"/>
              </a:solidFill>
              <a:latin typeface="Calibri"/>
            </a:endParaRPr>
          </a:p>
        </p:txBody>
      </p:sp>
      <p:pic>
        <p:nvPicPr>
          <p:cNvPr id="11" name="Picture 2" descr="Kamino raises $10M in a round led by Flourish and Quona - LatamList">
            <a:extLst>
              <a:ext uri="{FF2B5EF4-FFF2-40B4-BE49-F238E27FC236}">
                <a16:creationId xmlns:a16="http://schemas.microsoft.com/office/drawing/2014/main" id="{3D1B5794-AE2C-FB01-3AF8-251FAD591A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56"/>
          <a:stretch>
            <a:fillRect/>
          </a:stretch>
        </p:blipFill>
        <p:spPr bwMode="auto">
          <a:xfrm>
            <a:off x="9792928" y="-1"/>
            <a:ext cx="2399071" cy="105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2928" y="-1"/>
            <a:ext cx="2399071" cy="10558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90525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5E7182"/>
                </a:solidFill>
                <a:latin typeface="Calibri"/>
              </a:rPr>
              <a:t>MÉTODO DE TRABALHO — O MESMO CRITÉRIO QUE PROPONHO NO PRODUTO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12A3D"/>
                </a:solidFill>
                <a:latin typeface="Calibri"/>
              </a:rPr>
              <a:t>Como usei </a:t>
            </a:r>
            <a:r>
              <a:rPr sz="3000" b="1" i="0">
                <a:solidFill>
                  <a:srgbClr val="0D2333"/>
                </a:solidFill>
                <a:latin typeface="Calibri"/>
              </a:rPr>
              <a:t>IA neste case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639312" cy="338328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" y="178308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D2333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359152"/>
            <a:ext cx="3127248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0D2333"/>
                </a:solidFill>
                <a:latin typeface="Calibri"/>
              </a:rPr>
              <a:t>COWORK</a:t>
            </a:r>
          </a:p>
          <a:p>
            <a:pPr algn="l">
              <a:spcAft>
                <a:spcPts val="800"/>
              </a:spcAft>
            </a:pPr>
            <a:r>
              <a:rPr sz="1150" b="0" i="1">
                <a:solidFill>
                  <a:srgbClr val="5E7182"/>
                </a:solidFill>
                <a:latin typeface="Calibri"/>
              </a:rPr>
              <a:t>Discovery e plano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112A3D"/>
                </a:solidFill>
                <a:latin typeface="Calibri"/>
              </a:rPr>
              <a:t>•  Centralizei os materiais do case e os prints da plataforma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112A3D"/>
                </a:solidFill>
                <a:latin typeface="Calibri"/>
              </a:rPr>
              <a:t>•  Pesquisa de mercado e dor com fontes verificadas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112A3D"/>
                </a:solidFill>
                <a:latin typeface="Calibri"/>
              </a:rPr>
              <a:t>•  Plano de execução e este material construídos em cocriação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9392" y="1554480"/>
            <a:ext cx="3639312" cy="338328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35424" y="178308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D2333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5424" y="2359152"/>
            <a:ext cx="3127248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0D2333"/>
                </a:solidFill>
                <a:latin typeface="Calibri"/>
              </a:rPr>
              <a:t>CLAUDE + DESIGN</a:t>
            </a:r>
          </a:p>
          <a:p>
            <a:pPr algn="l">
              <a:spcAft>
                <a:spcPts val="800"/>
              </a:spcAft>
            </a:pPr>
            <a:r>
              <a:rPr sz="1150" b="0" i="1">
                <a:solidFill>
                  <a:srgbClr val="5E7182"/>
                </a:solidFill>
                <a:latin typeface="Calibri"/>
              </a:rPr>
              <a:t>Design system e protótipo inicial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112A3D"/>
                </a:solidFill>
                <a:latin typeface="Calibri"/>
              </a:rPr>
              <a:t>•  Design system básico a partir de referências públicas da documentação da Kamino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112A3D"/>
                </a:solidFill>
                <a:latin typeface="Calibri"/>
              </a:rPr>
              <a:t>•  Direção visual alinhada à marca (navy + lime)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112A3D"/>
                </a:solidFill>
                <a:latin typeface="Calibri"/>
              </a:rPr>
              <a:t>•  Primeiro protótipo da experiência de conciliação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554480"/>
            <a:ext cx="3639312" cy="3383280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 w="9525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66175" y="178308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D2333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6175" y="2359152"/>
            <a:ext cx="3127248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0D2333"/>
                </a:solidFill>
                <a:latin typeface="Calibri"/>
              </a:rPr>
              <a:t>CLAUDE CODE</a:t>
            </a:r>
          </a:p>
          <a:p>
            <a:pPr algn="l">
              <a:spcAft>
                <a:spcPts val="800"/>
              </a:spcAft>
            </a:pPr>
            <a:r>
              <a:rPr sz="1150" b="0" i="1">
                <a:solidFill>
                  <a:srgbClr val="5E7182"/>
                </a:solidFill>
                <a:latin typeface="Calibri"/>
              </a:rPr>
              <a:t>Mock funcional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112A3D"/>
                </a:solidFill>
                <a:latin typeface="Calibri"/>
              </a:rPr>
              <a:t>•  Codificação e evolução do protótipo navegável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112A3D"/>
                </a:solidFill>
                <a:latin typeface="Calibri"/>
              </a:rPr>
              <a:t>•  Dados do case mockados, com reset para demo ao vivo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112A3D"/>
                </a:solidFill>
                <a:latin typeface="Calibri"/>
              </a:rPr>
              <a:t>•  Iteração rápida: cada decisão de produto virou código no mesmo dia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212080"/>
            <a:ext cx="11091672" cy="1143000"/>
          </a:xfrm>
          <a:prstGeom prst="roundRect">
            <a:avLst>
              <a:gd name="adj" fmla="val 10000"/>
            </a:avLst>
          </a:prstGeom>
          <a:solidFill>
            <a:srgbClr val="0D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413248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DFF25E"/>
                </a:solidFill>
                <a:latin typeface="Calibri"/>
              </a:rPr>
              <a:t>A mesma fronteira do produto, aplicada ao processo: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a IA executou pesquisa, design e código. As decisões — enquadramento do problema, modelagem financeira, fronteira de risco, priorização — ficaram comigo.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/>
          <p:cNvSpPr/>
          <p:nvPr/>
        </p:nvSpPr>
        <p:spPr>
          <a:xfrm>
            <a:off x="9509760" y="4937760"/>
            <a:ext cx="2194560" cy="1554480"/>
          </a:xfrm>
          <a:prstGeom prst="triangle">
            <a:avLst/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Isosceles Triangle 2"/>
          <p:cNvSpPr/>
          <p:nvPr/>
        </p:nvSpPr>
        <p:spPr>
          <a:xfrm>
            <a:off x="10881360" y="4480560"/>
            <a:ext cx="2743200" cy="2011680"/>
          </a:xfrm>
          <a:prstGeom prst="triangle">
            <a:avLst/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200" b="1" i="0" noProof="0" dirty="0">
                <a:solidFill>
                  <a:srgbClr val="DFF25E"/>
                </a:solidFill>
                <a:latin typeface="Calibri"/>
              </a:rPr>
              <a:t>POR QUE EU</a:t>
            </a:r>
          </a:p>
          <a:p>
            <a:pPr algn="l">
              <a:spcAft>
                <a:spcPts val="0"/>
              </a:spcAft>
            </a:pPr>
            <a:r>
              <a:rPr lang="pt-BR" sz="3000" b="1" i="0" noProof="0" dirty="0">
                <a:solidFill>
                  <a:srgbClr val="FFFFFF"/>
                </a:solidFill>
                <a:latin typeface="Calibri"/>
              </a:rPr>
              <a:t>O que eu entrego para a </a:t>
            </a:r>
            <a:r>
              <a:rPr lang="pt-BR" sz="3000" b="1" i="0" noProof="0" dirty="0" err="1">
                <a:solidFill>
                  <a:srgbClr val="FFFFFF"/>
                </a:solidFill>
                <a:latin typeface="Calibri"/>
              </a:rPr>
              <a:t>Kamino</a:t>
            </a:r>
            <a:r>
              <a:rPr lang="pt-BR" sz="3000" b="1" i="0" noProof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pt-BR" sz="3000" b="1" i="0" noProof="0" dirty="0">
                <a:solidFill>
                  <a:srgbClr val="DFF25E"/>
                </a:solidFill>
                <a:latin typeface="Calibri"/>
              </a:rPr>
              <a:t>desde a semana 1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73736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691640"/>
            <a:ext cx="10241280" cy="6973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sz="1600" b="1" i="0" noProof="0" dirty="0">
                <a:solidFill>
                  <a:srgbClr val="DFF25E"/>
                </a:solidFill>
                <a:latin typeface="Calibri"/>
              </a:rPr>
              <a:t>Entrega </a:t>
            </a:r>
            <a:r>
              <a:rPr lang="pt-BR" sz="1600" b="1" i="0" noProof="0" dirty="0" err="1">
                <a:solidFill>
                  <a:srgbClr val="DFF25E"/>
                </a:solidFill>
                <a:latin typeface="Calibri"/>
              </a:rPr>
              <a:t>end-to-end</a:t>
            </a:r>
            <a:r>
              <a:rPr lang="pt-BR" sz="1600" b="1" i="0" noProof="0" dirty="0">
                <a:solidFill>
                  <a:srgbClr val="DFF25E"/>
                </a:solidFill>
                <a:latin typeface="Calibri"/>
              </a:rPr>
              <a:t>, comprovada aqui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pt-BR" sz="1250" b="0" i="0" noProof="0" dirty="0">
                <a:solidFill>
                  <a:srgbClr val="C9D8E8"/>
                </a:solidFill>
                <a:latin typeface="Calibri"/>
              </a:rPr>
              <a:t>Este case foi conduzido como eu trabalho de verdade: </a:t>
            </a:r>
            <a:r>
              <a:rPr lang="pt-BR" sz="1250" b="0" i="0" noProof="0" dirty="0" err="1">
                <a:solidFill>
                  <a:srgbClr val="C9D8E8"/>
                </a:solidFill>
                <a:latin typeface="Calibri"/>
              </a:rPr>
              <a:t>discovery</a:t>
            </a:r>
            <a:r>
              <a:rPr lang="pt-BR" sz="1250" b="0" i="0" noProof="0" dirty="0">
                <a:solidFill>
                  <a:srgbClr val="C9D8E8"/>
                </a:solidFill>
                <a:latin typeface="Calibri"/>
              </a:rPr>
              <a:t> com dados de mercado, modelagem financeira antes de UI, protótipo funcional e plano de </a:t>
            </a:r>
            <a:r>
              <a:rPr lang="pt-BR" sz="1250" b="0" i="0" noProof="0" dirty="0" err="1">
                <a:solidFill>
                  <a:srgbClr val="C9D8E8"/>
                </a:solidFill>
                <a:latin typeface="Calibri"/>
              </a:rPr>
              <a:t>rollout</a:t>
            </a:r>
            <a:r>
              <a:rPr lang="pt-BR" sz="1250" b="0" i="0" noProof="0" dirty="0">
                <a:solidFill>
                  <a:srgbClr val="C9D8E8"/>
                </a:solidFill>
                <a:latin typeface="Calibri"/>
              </a:rPr>
              <a:t> — tudo em dias, não semanas.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108960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063240"/>
            <a:ext cx="10241280" cy="4857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sz="1600" b="1" i="0" noProof="0" dirty="0">
                <a:solidFill>
                  <a:srgbClr val="DFF25E"/>
                </a:solidFill>
                <a:latin typeface="Calibri"/>
              </a:rPr>
              <a:t>Julgamento em domínio financeiro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pt-BR" sz="1250" b="0" i="0" noProof="0" dirty="0">
                <a:solidFill>
                  <a:srgbClr val="C9D8E8"/>
                </a:solidFill>
                <a:latin typeface="Calibri"/>
              </a:rPr>
              <a:t>Fronteira de IA desenhada por risco, não por hype: </a:t>
            </a:r>
            <a:r>
              <a:rPr lang="pt-BR" sz="1250" b="0" i="0" noProof="0" dirty="0" err="1">
                <a:solidFill>
                  <a:srgbClr val="C9D8E8"/>
                </a:solidFill>
                <a:latin typeface="Calibri"/>
              </a:rPr>
              <a:t>matching</a:t>
            </a:r>
            <a:r>
              <a:rPr lang="pt-BR" sz="1250" b="0" i="0" noProof="0" dirty="0">
                <a:solidFill>
                  <a:srgbClr val="C9D8E8"/>
                </a:solidFill>
                <a:latin typeface="Calibri"/>
              </a:rPr>
              <a:t> é reversível, lançamento contábil não. [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480559"/>
            <a:ext cx="420624" cy="420624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400" b="1" noProof="0" dirty="0">
                <a:solidFill>
                  <a:srgbClr val="0D2333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434840"/>
            <a:ext cx="10241280" cy="4857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sz="1600" b="1" i="0" noProof="0" dirty="0">
                <a:solidFill>
                  <a:srgbClr val="DFF25E"/>
                </a:solidFill>
                <a:latin typeface="Calibri"/>
              </a:rPr>
              <a:t>IA como multiplicador de </a:t>
            </a:r>
            <a:r>
              <a:rPr lang="pt-BR" sz="1600" b="1" i="0" noProof="0" dirty="0" err="1">
                <a:solidFill>
                  <a:srgbClr val="DFF25E"/>
                </a:solidFill>
                <a:latin typeface="Calibri"/>
              </a:rPr>
              <a:t>capacity</a:t>
            </a:r>
            <a:endParaRPr lang="pt-BR" sz="1600" b="1" i="0" noProof="0" dirty="0">
              <a:solidFill>
                <a:srgbClr val="DFF25E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pt-BR" sz="1250" b="0" i="0" noProof="0" dirty="0">
                <a:solidFill>
                  <a:srgbClr val="C9D8E8"/>
                </a:solidFill>
                <a:latin typeface="Calibri"/>
              </a:rPr>
              <a:t>Pesquisa, protótipo e este material foram construídos com IA sob critério — o mesmo método que aplico com o time: mais entregas com a mesma </a:t>
            </a:r>
            <a:r>
              <a:rPr lang="pt-BR" sz="1250" b="0" i="0" noProof="0" dirty="0" err="1">
                <a:solidFill>
                  <a:srgbClr val="C9D8E8"/>
                </a:solidFill>
                <a:latin typeface="Calibri"/>
              </a:rPr>
              <a:t>squad</a:t>
            </a:r>
            <a:r>
              <a:rPr lang="pt-BR" sz="1250" b="0" i="0" noProof="0" dirty="0">
                <a:solidFill>
                  <a:srgbClr val="C9D8E8"/>
                </a:solidFill>
                <a:latin typeface="Calibri"/>
              </a:rPr>
              <a:t>.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852160"/>
            <a:ext cx="11091672" cy="658368"/>
          </a:xfrm>
          <a:prstGeom prst="roundRect">
            <a:avLst>
              <a:gd name="adj" fmla="val 10000"/>
            </a:avLst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914400" y="6007608"/>
            <a:ext cx="10424160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lang="pt-BR" sz="1350" b="1" i="0" noProof="0" dirty="0">
                <a:solidFill>
                  <a:srgbClr val="DFF25E"/>
                </a:solidFill>
                <a:latin typeface="Calibri"/>
              </a:rPr>
              <a:t>Estou pronto para começar: </a:t>
            </a:r>
            <a:r>
              <a:rPr lang="pt-BR" sz="1350" b="0" i="0" noProof="0" dirty="0">
                <a:solidFill>
                  <a:srgbClr val="FFFFFF"/>
                </a:solidFill>
                <a:latin typeface="Calibri"/>
              </a:rPr>
              <a:t>a primeira versão deste plano já está na mesa. Vamos nessa? Obrigado.</a:t>
            </a:r>
          </a:p>
        </p:txBody>
      </p:sp>
      <p:pic>
        <p:nvPicPr>
          <p:cNvPr id="13" name="Picture 6" descr="KAMINO INSTITUICAO DE PAGAMENTO - Reclame Aqui">
            <a:extLst>
              <a:ext uri="{FF2B5EF4-FFF2-40B4-BE49-F238E27FC236}">
                <a16:creationId xmlns:a16="http://schemas.microsoft.com/office/drawing/2014/main" id="{2B296403-CA3C-6A95-D1F0-B4ACF60127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0" t="35600" r="4600" b="35840"/>
          <a:stretch>
            <a:fillRect/>
          </a:stretch>
        </p:blipFill>
        <p:spPr bwMode="auto">
          <a:xfrm>
            <a:off x="9753600" y="182880"/>
            <a:ext cx="2270760" cy="723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9160" y="-1348740"/>
            <a:ext cx="3810000" cy="381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90525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FF25E"/>
                </a:solidFill>
                <a:latin typeface="Calibri"/>
              </a:rPr>
              <a:t>DEMONSTRAÇÃO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Riscos assumidos e o que </a:t>
            </a:r>
            <a:r>
              <a:rPr sz="3000" b="1" i="0">
                <a:solidFill>
                  <a:srgbClr val="DFF25E"/>
                </a:solidFill>
                <a:latin typeface="Calibri"/>
              </a:rPr>
              <a:t>entregaremos ao 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DFF25E"/>
                </a:solidFill>
                <a:latin typeface="Calibri"/>
              </a:rPr>
              <a:t>COMPÕEM A ENTREGA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167128"/>
            <a:ext cx="402336" cy="402336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0D2333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48256"/>
            <a:ext cx="4389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Motor de conciliação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C9D8E8"/>
                </a:solidFill>
                <a:latin typeface="Calibri"/>
              </a:rPr>
              <a:t>Matching automático 1:1 e score de confiança explicado para as exceções.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44368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3191256"/>
            <a:ext cx="402336" cy="402336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0D2333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72384"/>
            <a:ext cx="4389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Agente com UI generativa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C9D8E8"/>
                </a:solidFill>
                <a:latin typeface="Calibri"/>
              </a:rPr>
              <a:t>O chat comanda; cards, tabelas e botões de ação nascem na conversa.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68496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4215383"/>
            <a:ext cx="402336" cy="402336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0D2333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096511"/>
            <a:ext cx="4389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 saldos + fila de pendências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C9D8E8"/>
                </a:solidFill>
                <a:latin typeface="Calibri"/>
              </a:rPr>
              <a:t>Estado persistente: banco, interno, conciliado e pendências sempre visíveis.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92624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5239512"/>
            <a:ext cx="402336" cy="402336"/>
          </a:xfrm>
          <a:prstGeom prst="ellipse">
            <a:avLst/>
          </a:prstGeom>
          <a:solidFill>
            <a:srgbClr val="DFF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0D2333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120640"/>
            <a:ext cx="4389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Auditoria e desfazer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C9D8E8"/>
                </a:solidFill>
                <a:latin typeface="Calibri"/>
              </a:rPr>
              <a:t>Todo evento com autor, evidência e reversão a 1 clique.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481328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DFF25E"/>
                </a:solidFill>
                <a:latin typeface="Calibri"/>
              </a:rPr>
              <a:t>RISCOS E MITIGAÇÕES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920240"/>
            <a:ext cx="5330952" cy="1252728"/>
          </a:xfrm>
          <a:prstGeom prst="roundRect">
            <a:avLst>
              <a:gd name="adj" fmla="val 10000"/>
            </a:avLst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066544"/>
            <a:ext cx="4800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Chat serializa a revisão em massa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 i="0">
                <a:solidFill>
                  <a:srgbClr val="C9D8E8"/>
                </a:solidFill>
                <a:latin typeface="Calibri"/>
              </a:rPr>
              <a:t>Mitigado por design: híbrido com fila persistente e ações em lote — o chat comanda, não aprisiona.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291840"/>
            <a:ext cx="5330952" cy="1252728"/>
          </a:xfrm>
          <a:prstGeom prst="roundRect">
            <a:avLst>
              <a:gd name="adj" fmla="val 10000"/>
            </a:avLst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438144"/>
            <a:ext cx="4800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Score de confiança errado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 i="0">
                <a:solidFill>
                  <a:srgbClr val="C9D8E8"/>
                </a:solidFill>
                <a:latin typeface="Calibri"/>
              </a:rPr>
              <a:t>Reversibilidade total + lote auditável + taxa de reversão como KPI vigiado.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663440"/>
            <a:ext cx="5330952" cy="1252728"/>
          </a:xfrm>
          <a:prstGeom prst="roundRect">
            <a:avLst>
              <a:gd name="adj" fmla="val 10000"/>
            </a:avLst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809744"/>
            <a:ext cx="4800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Expectativa de “IA mágica”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 i="0">
                <a:solidFill>
                  <a:srgbClr val="C9D8E8"/>
                </a:solidFill>
                <a:latin typeface="Calibri"/>
              </a:rPr>
              <a:t>Incerteza explícita na interface; o agente mostra evidências, não veredictos.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6035040"/>
            <a:ext cx="11091672" cy="566928"/>
          </a:xfrm>
          <a:prstGeom prst="roundRect">
            <a:avLst>
              <a:gd name="adj" fmla="val 10000"/>
            </a:avLst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6163056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DFF25E"/>
                </a:solidFill>
                <a:latin typeface="Calibri"/>
              </a:rPr>
              <a:t>Tudo isso está funcionando na demo → 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protótipo navegável com os dados do case, reinicializável ao vivo.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9160" y="-1348740"/>
            <a:ext cx="3810000" cy="381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90525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FF25E"/>
                </a:solidFill>
                <a:latin typeface="Calibri"/>
              </a:rPr>
              <a:t>TRANSPARÊNCIA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O que fica </a:t>
            </a:r>
            <a:r>
              <a:rPr sz="3000" b="1" i="0">
                <a:solidFill>
                  <a:srgbClr val="DFF25E"/>
                </a:solidFill>
                <a:latin typeface="Calibri"/>
              </a:rPr>
              <a:t>de fora</a:t>
            </a:r>
            <a:r>
              <a:rPr sz="3000" b="1" i="0">
                <a:solidFill>
                  <a:srgbClr val="FFFFFF"/>
                </a:solidFill>
                <a:latin typeface="Calibri"/>
              </a:rPr>
              <a:t> da v1 — e mostra o potencial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30952" cy="1874519"/>
          </a:xfrm>
          <a:prstGeom prst="roundRect">
            <a:avLst>
              <a:gd name="adj" fmla="val 10000"/>
            </a:avLst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783080"/>
            <a:ext cx="48006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Regras aprendidas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 i="0">
                <a:solidFill>
                  <a:srgbClr val="C9D8E8"/>
                </a:solidFill>
                <a:latin typeface="Calibri"/>
              </a:rPr>
              <a:t>Automatizar tarifa recorrente só depois de confirmação repetida do usuário.</a:t>
            </a:r>
          </a:p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DFF25E"/>
                </a:solidFill>
                <a:latin typeface="Calibri"/>
              </a:rPr>
              <a:t>Entra quando: N confirmações idênticas no piloto.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00200"/>
            <a:ext cx="5330952" cy="1874519"/>
          </a:xfrm>
          <a:prstGeom prst="roundRect">
            <a:avLst>
              <a:gd name="adj" fmla="val 10000"/>
            </a:avLst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83080"/>
            <a:ext cx="48006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Voz e outros formatos de entrada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 i="0">
                <a:solidFill>
                  <a:srgbClr val="C9D8E8"/>
                </a:solidFill>
                <a:latin typeface="Calibri"/>
              </a:rPr>
              <a:t>Áudio e importação de novos formatos, mostrados como visão.</a:t>
            </a:r>
          </a:p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DFF25E"/>
                </a:solidFill>
                <a:latin typeface="Calibri"/>
              </a:rPr>
              <a:t>Entra quando: demanda comprovada no piloto.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5330952" cy="1874519"/>
          </a:xfrm>
          <a:prstGeom prst="roundRect">
            <a:avLst>
              <a:gd name="adj" fmla="val 10000"/>
            </a:avLst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840480"/>
            <a:ext cx="48006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Multiconta e multimoeda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 i="0">
                <a:solidFill>
                  <a:srgbClr val="C9D8E8"/>
                </a:solidFill>
                <a:latin typeface="Calibri"/>
              </a:rPr>
              <a:t>MVP prova valor em 1 conta antes de escalar complexidade.</a:t>
            </a:r>
          </a:p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DFF25E"/>
                </a:solidFill>
                <a:latin typeface="Calibri"/>
              </a:rPr>
              <a:t>Entra quando: KPIs do rollout batidos.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657600"/>
            <a:ext cx="5330952" cy="1874519"/>
          </a:xfrm>
          <a:prstGeom prst="roundRect">
            <a:avLst>
              <a:gd name="adj" fmla="val 10000"/>
            </a:avLst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3840480"/>
            <a:ext cx="48006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Open Finance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 i="0">
                <a:solidFill>
                  <a:srgbClr val="C9D8E8"/>
                </a:solidFill>
                <a:latin typeface="Calibri"/>
              </a:rPr>
              <a:t>Aproveitar a estrutura de IP da Kamino para conciliar contas externas com a mesma agilidade.</a:t>
            </a:r>
          </a:p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DFF25E"/>
                </a:solidFill>
                <a:latin typeface="Calibri"/>
              </a:rPr>
              <a:t>Entra quando: escala de contas externas justificar.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806440"/>
            <a:ext cx="11091672" cy="685800"/>
          </a:xfrm>
          <a:prstGeom prst="roundRect">
            <a:avLst>
              <a:gd name="adj" fmla="val 10000"/>
            </a:avLst>
          </a:prstGeom>
          <a:solidFill>
            <a:srgbClr val="15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9436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DFF25E"/>
                </a:solidFill>
                <a:latin typeface="Calibri"/>
              </a:rPr>
              <a:t>Corte é decisão, não omissão: 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a v1 prova valor em 1 conta e 1 fluxo — e cada item acima tem gatilho claro para entrar no roadmap.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2654</Words>
  <Application>Microsoft Office PowerPoint</Application>
  <PresentationFormat>Widescreen</PresentationFormat>
  <Paragraphs>275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Bruce Bianchini Batista</cp:lastModifiedBy>
  <cp:revision>6</cp:revision>
  <dcterms:created xsi:type="dcterms:W3CDTF">2013-01-27T09:14:16Z</dcterms:created>
  <dcterms:modified xsi:type="dcterms:W3CDTF">2026-07-08T22:11:13Z</dcterms:modified>
  <cp:category/>
</cp:coreProperties>
</file>