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74" r:id="rId11"/>
    <p:sldId id="275" r:id="rId12"/>
    <p:sldId id="264" r:id="rId13"/>
    <p:sldId id="269" r:id="rId14"/>
    <p:sldId id="266" r:id="rId15"/>
    <p:sldId id="273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F25E"/>
    <a:srgbClr val="B2C756"/>
    <a:srgbClr val="032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72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84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Abertura: o case não é sobre conciliar mais rápido, é sobre confiança no saldo. Os três círculos antecipam a tese da fronteira de IA: age, sugere,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60–90 segundos, no máximo. A banca quer contexto, não currículo: quem é, o que já entregou, como trabalha. Fechar conectando com o case: 'e foi assim que ataquei o desafio de vocês'.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Decisão de framing: o problema é confiança, não velocidade. Isso orienta tudo: evidência visível, incerteza explícita, reversibilidade.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insight: o caso 1:1 nunca foi o problema. O custo está nas exceções — exatamente o que o Apêndice A do case testa.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Honestidade intelectual: dados direcionais de mercado, sinalizados como tal. O ponto-chave do benchmark: autonomia no matching, decisão humana no fato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Defesa da hipótese: porte da empresa implica um operador financeiro. Chat serve à dona; fila serve ao analista; mesma engine de conciliação por 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princípio é testável no protótipo: se a banca perguntar 'onde está o princípio 3?', mostro o desfazer e a trilha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Esboço, não design final. A decisão defendida: chat comanda, mas o estado (saldos, fila) é persistente — responde às objeções de auditabilidade e revisão em 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que diferencia: os R$ 650 batem exatamente com ISS 5% + IRRF 1,5%. A IA explica o porquê da hipótese fiscal e pede confirmação — nunca lança imposto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Critério central da banca. Justificar por risco e corretude: matching errado é reversível; lançamento fiscal errado corrompe a contabilidade.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rollout controlado não é go-live big bang. Progressão por coorte condicionada aos KPIs do slide seguinte. A estimativa é hipótese de PM — quem cravaria é o planning com o tech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KPIs conectam a métrica de negócio (tempo, adoção) com a métrica de confiança (taxa de reversão). Meta declarada como hipótese: maturidade, não fraqueza.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Fecho de 60s: três pilares, cada um ancorado em prova (o próprio case) + uma credencial pessoal. Não listar adjetivos — listar evidências. Terminar abrindo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828800"/>
            <a:ext cx="8412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KAMINO · CASE PM SÊNIOR — PLATAFORMA FINANCEIRA CORE</a:t>
            </a:r>
          </a:p>
          <a:p>
            <a:pPr algn="l">
              <a:lnSpc>
                <a:spcPct val="102000"/>
              </a:lnSpc>
              <a:spcAft>
                <a:spcPts val="1400"/>
              </a:spcAft>
            </a:pPr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Conciliação que constrói
</a:t>
            </a:r>
            <a:r>
              <a:rPr lang="pt-BR" sz="4400" b="1" i="0" noProof="0" dirty="0">
                <a:solidFill>
                  <a:srgbClr val="DFF25E"/>
                </a:solidFill>
                <a:latin typeface="Calibri"/>
              </a:rPr>
              <a:t>confiança</a:t>
            </a:r>
          </a:p>
          <a:p>
            <a:pPr algn="l">
              <a:spcAft>
                <a:spcPts val="0"/>
              </a:spcAft>
            </a:pP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Do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 ao protótipo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agêntico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: tese de produto e plano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Cliente-referência: Acme Serviços · Julho 2026 · Entregáveis: protótipo funcional + racional + apresentação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2240280"/>
            <a:ext cx="1280160" cy="128016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3200" b="1" noProof="0" dirty="0">
                <a:solidFill>
                  <a:srgbClr val="0D2333"/>
                </a:solidFill>
                <a:latin typeface="Calibri"/>
              </a:rPr>
              <a:t>✓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3337560"/>
            <a:ext cx="868680" cy="86868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2200" b="1" noProof="0" dirty="0">
                <a:solidFill>
                  <a:srgbClr val="DFF25E"/>
                </a:solidFill>
                <a:latin typeface="Calibri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9006840" y="3840480"/>
            <a:ext cx="685800" cy="68580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700" b="1" noProof="0" dirty="0">
                <a:solidFill>
                  <a:srgbClr val="C9D8E8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70915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200" b="0" i="1" noProof="0" dirty="0">
                <a:solidFill>
                  <a:srgbClr val="C9D8E8"/>
                </a:solidFill>
                <a:latin typeface="Calibri"/>
              </a:rPr>
              <a:t>age · sugere · escala</a:t>
            </a:r>
          </a:p>
        </p:txBody>
      </p:sp>
      <p:pic>
        <p:nvPicPr>
          <p:cNvPr id="8194" name="Picture 2" descr="KAMINO INSTITUICAO DE PAGAMENTO - Reclame Aqui">
            <a:extLst>
              <a:ext uri="{FF2B5EF4-FFF2-40B4-BE49-F238E27FC236}">
                <a16:creationId xmlns:a16="http://schemas.microsoft.com/office/drawing/2014/main" id="{B3C57DBD-68F4-5EAE-7C08-33BD95783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160" y="-134874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APRESENTAÇÃO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Quem está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do outro lado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mesa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6031152" cy="42062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697480" y="1965960"/>
            <a:ext cx="3566160" cy="1512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Bruce Bianchini</a:t>
            </a:r>
          </a:p>
          <a:p>
            <a:pPr algn="r">
              <a:spcAft>
                <a:spcPts val="1200"/>
              </a:spcAft>
            </a:pPr>
            <a:r>
              <a:rPr lang="pt-BR" sz="1400" b="1" i="0" noProof="0" dirty="0" err="1">
                <a:solidFill>
                  <a:srgbClr val="DFF25E"/>
                </a:solidFill>
                <a:latin typeface="Calibri"/>
              </a:rPr>
              <a:t>Product</a:t>
            </a: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 Management</a:t>
            </a:r>
          </a:p>
          <a:p>
            <a:pPr algn="r">
              <a:lnSpc>
                <a:spcPct val="115000"/>
              </a:lnSpc>
              <a:spcAft>
                <a:spcPts val="1200"/>
              </a:spcAft>
            </a:pPr>
            <a:r>
              <a:rPr lang="pt-BR" sz="1300" b="0" i="0" noProof="0" dirty="0">
                <a:solidFill>
                  <a:srgbClr val="C9D8E8"/>
                </a:solidFill>
                <a:latin typeface="Calibri"/>
              </a:rPr>
              <a:t>ERP | IA | FINANCE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  <a:latin typeface="Calibri"/>
              </a:rPr>
              <a:t>Uberlândia/MG 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</a:rPr>
              <a:t>https://www.linkedin.com/in/brucebianchini</a:t>
            </a:r>
            <a:endParaRPr lang="pt-BR" sz="1100" b="0" i="0" noProof="0" dirty="0">
              <a:solidFill>
                <a:srgbClr val="C9D8E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54112" y="1727625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83080"/>
            <a:ext cx="4206240" cy="8221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Trajetória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6 anos de produto; ERP, pagamentos, Fintech, B2B SaaS. </a:t>
            </a:r>
          </a:p>
        </p:txBody>
      </p:sp>
      <p:sp>
        <p:nvSpPr>
          <p:cNvPr id="7" name="Oval 6"/>
          <p:cNvSpPr/>
          <p:nvPr/>
        </p:nvSpPr>
        <p:spPr>
          <a:xfrm>
            <a:off x="6854112" y="3117512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72968"/>
            <a:ext cx="4206240" cy="1088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Resultados que carrego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Redução do tempo de implantação de 9 meses para 45 dias.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600" noProof="0" dirty="0">
                <a:solidFill>
                  <a:srgbClr val="112A3D"/>
                </a:solidFill>
                <a:latin typeface="Calibri"/>
              </a:rPr>
              <a:t>5x mais conversão em vendas.</a:t>
            </a:r>
            <a:endParaRPr lang="pt-BR" sz="1600" b="0" i="0" noProof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4112" y="4507401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562856"/>
            <a:ext cx="4206240" cy="1088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Como eu trabalho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Decisões escritas e rastreáveis, colaboração próxima com engenharia, IA como método de trabalho</a:t>
            </a:r>
            <a:r>
              <a:rPr lang="pt-BR" sz="1600" noProof="0" dirty="0">
                <a:solidFill>
                  <a:srgbClr val="112A3D"/>
                </a:solidFill>
                <a:latin typeface="Calibri"/>
              </a:rPr>
              <a:t> (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este material é prova).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0DE5F45-249A-A1B2-A639-A0F211754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35052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5C73824-C7D9-770E-3731-3B871B7E8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92" y="4043546"/>
            <a:ext cx="1386048" cy="13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PROBLEMA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pedido é simples.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O problema, não.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389120" cy="3064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400"/>
              </a:spcAft>
            </a:pPr>
            <a:r>
              <a:rPr lang="pt-BR" sz="2400" b="1" i="1" noProof="0" dirty="0">
                <a:solidFill>
                  <a:srgbClr val="FFFFFF"/>
                </a:solidFill>
                <a:latin typeface="Calibri"/>
              </a:rPr>
              <a:t>“Quero abrir a plataforma e </a:t>
            </a:r>
            <a:r>
              <a:rPr lang="pt-BR" sz="2400" b="1" i="1" noProof="0" dirty="0">
                <a:solidFill>
                  <a:srgbClr val="DFF25E"/>
                </a:solidFill>
                <a:latin typeface="Calibri"/>
              </a:rPr>
              <a:t>confiar no meu saldo</a:t>
            </a:r>
            <a:r>
              <a:rPr lang="pt-BR" sz="2400" b="1" i="1" noProof="0" dirty="0">
                <a:solidFill>
                  <a:srgbClr val="FFFFFF"/>
                </a:solidFill>
                <a:latin typeface="Calibri"/>
              </a:rPr>
              <a:t>, sem passar horas conferindo.”</a:t>
            </a:r>
            <a:br>
              <a:rPr lang="pt-BR" sz="1400" b="1" i="0" noProof="0" dirty="0">
                <a:solidFill>
                  <a:srgbClr val="FFFFFF"/>
                </a:solidFill>
                <a:latin typeface="Calibri"/>
              </a:rPr>
            </a:b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Bia – sócia-proprietária da Acme Serviços</a:t>
            </a:r>
          </a:p>
          <a:p>
            <a:pPr algn="r">
              <a:lnSpc>
                <a:spcPct val="115000"/>
              </a:lnSpc>
              <a:spcAft>
                <a:spcPts val="1400"/>
              </a:spcAft>
            </a:pPr>
            <a:endParaRPr lang="pt-BR" sz="1400" b="1" i="0" noProof="0" dirty="0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10000"/>
              </a:lnSpc>
            </a:pPr>
            <a:r>
              <a:rPr lang="pt-BR" sz="1400" noProof="0" dirty="0">
                <a:solidFill>
                  <a:srgbClr val="C9D8E8"/>
                </a:solidFill>
              </a:rPr>
              <a:t> · </a:t>
            </a: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Empresa de serviços</a:t>
            </a:r>
          </a:p>
          <a:p>
            <a:pPr>
              <a:lnSpc>
                <a:spcPct val="110000"/>
              </a:lnSpc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 · ~120 funcionários</a:t>
            </a:r>
          </a:p>
          <a:p>
            <a:pPr>
              <a:lnSpc>
                <a:spcPct val="110000"/>
              </a:lnSpc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 · mais de uma conta bancária </a:t>
            </a:r>
          </a:p>
          <a:p>
            <a:pPr>
              <a:lnSpc>
                <a:spcPct val="110000"/>
              </a:lnSpc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 · fecha o caixa exportando extratos e batendo no Excel</a:t>
            </a:r>
          </a:p>
        </p:txBody>
      </p:sp>
      <p:sp>
        <p:nvSpPr>
          <p:cNvPr id="5" name="Oval 4"/>
          <p:cNvSpPr/>
          <p:nvPr/>
        </p:nvSpPr>
        <p:spPr>
          <a:xfrm>
            <a:off x="6126480" y="1746504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892040" cy="8382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Dor aparente: </a:t>
            </a:r>
            <a:r>
              <a:rPr lang="pt-BR" sz="2400" b="1" i="0" noProof="0" dirty="0">
                <a:solidFill>
                  <a:srgbClr val="0D2333"/>
                </a:solidFill>
                <a:latin typeface="Calibri"/>
              </a:rPr>
              <a:t>tempo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Horas exportando extratos e batendo linha a linha na planilha, todo fechamento.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099816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044952"/>
            <a:ext cx="4892040" cy="8382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Dor real: </a:t>
            </a:r>
            <a:r>
              <a:rPr lang="pt-BR" sz="2400" b="1" i="0" noProof="0" dirty="0">
                <a:solidFill>
                  <a:srgbClr val="0D2333"/>
                </a:solidFill>
                <a:latin typeface="Calibri"/>
              </a:rPr>
              <a:t>confiança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Ela só confia no saldo porque ela mesma conferiu. O Excel não é a ferramenta — é o mecanismo de confiança dela.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4453128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398264"/>
            <a:ext cx="4892040" cy="9413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Implicação de produto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Automação que </a:t>
            </a:r>
            <a:r>
              <a:rPr lang="pt-BR" sz="1400" b="1" i="0" noProof="0" dirty="0">
                <a:solidFill>
                  <a:srgbClr val="112A3D"/>
                </a:solidFill>
                <a:latin typeface="Calibri"/>
              </a:rPr>
              <a:t>esconde o trabalho </a:t>
            </a: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destrói a confiança em vez de transferi-la. A plataforma deve tornar a conferência verificável em segundos.</a:t>
            </a:r>
          </a:p>
        </p:txBody>
      </p:sp>
      <p:pic>
        <p:nvPicPr>
          <p:cNvPr id="1026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711EE169-68C5-EC4C-3764-88F9D0BD2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 DOR NO FLUXO DE HOJE</a:t>
            </a:r>
          </a:p>
          <a:p>
            <a:pPr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Quatro passos que consomem 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fechamento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Acme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Exportar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Baixa extratos de cada banco, em PDF ou Excel, conta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37360"/>
            <a:ext cx="2621280" cy="22128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531157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1157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Bater na planilha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 err="1">
                <a:solidFill>
                  <a:srgbClr val="112A3D"/>
                </a:solidFill>
                <a:latin typeface="Calibri"/>
              </a:rPr>
              <a:t>Ctrl+F</a:t>
            </a: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, olho treinado e fórmulas quebradas: linha a linha contra os lançamentos.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737360"/>
            <a:ext cx="2685386" cy="24917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6285074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5074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Tratar exceções no escuro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Lote, pagamento parcial, retenção de imposto e tarifa não têm apoio — viram investigação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8546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9147146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7146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Fechar sem confiar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O caixa “fecha”, mas ninguém confia no número. A conferência recomeça no mês seguinte.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10424160" cy="594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b="1" i="0" noProof="0" dirty="0">
                <a:solidFill>
                  <a:srgbClr val="DFF25E"/>
                </a:solidFill>
                <a:latin typeface="Calibri"/>
              </a:rPr>
              <a:t>Custo real: </a:t>
            </a:r>
            <a:r>
              <a:rPr lang="pt-BR" b="0" i="0" noProof="0" dirty="0">
                <a:solidFill>
                  <a:srgbClr val="FFFFFF"/>
                </a:solidFill>
                <a:latin typeface="Calibri"/>
              </a:rPr>
              <a:t>horas de analista + decisões de caixa tomadas sobre um saldo incerto.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b="0" i="0" noProof="0" dirty="0">
                <a:solidFill>
                  <a:srgbClr val="FFFFFF"/>
                </a:solidFill>
                <a:latin typeface="Calibri"/>
              </a:rPr>
              <a:t>A exceção é onde o tempo e a confiança se perdem.</a:t>
            </a:r>
          </a:p>
        </p:txBody>
      </p:sp>
      <p:pic>
        <p:nvPicPr>
          <p:cNvPr id="17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80F673E2-B22B-23C1-565C-EC7386F65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CONTEXTO DE MERCADO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 dor é estrutural — e o mercado já apontou 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direção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286000" cy="1361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4000" b="1" i="0" noProof="0" dirty="0">
                <a:solidFill>
                  <a:srgbClr val="DFF25E"/>
                </a:solidFill>
                <a:latin typeface="Calibri"/>
              </a:rPr>
              <a:t>8–12h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por semana gastas em conciliação manual por um profissional qualificado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639312" y="1874519"/>
            <a:ext cx="2286000" cy="1361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4000" b="1" i="0" noProof="0" dirty="0">
                <a:solidFill>
                  <a:srgbClr val="DFF25E"/>
                </a:solidFill>
                <a:latin typeface="Calibri"/>
              </a:rPr>
              <a:t>9 de 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 err="1">
                <a:solidFill>
                  <a:srgbClr val="C9D8E8"/>
                </a:solidFill>
                <a:latin typeface="Calibri"/>
              </a:rPr>
              <a:t>PMEs</a:t>
            </a: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 brasileiras ainda conciliam com extrato + planilha auxiliar, na mão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645920"/>
            <a:ext cx="2651760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01383" y="1874519"/>
            <a:ext cx="2286000" cy="1588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4000" b="1" i="0" noProof="0" dirty="0">
                <a:solidFill>
                  <a:srgbClr val="DFF25E"/>
                </a:solidFill>
                <a:latin typeface="Calibri"/>
              </a:rPr>
              <a:t>48%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das </a:t>
            </a:r>
            <a:r>
              <a:rPr lang="pt-BR" sz="1400" b="0" i="0" noProof="0" dirty="0" err="1">
                <a:solidFill>
                  <a:srgbClr val="C9D8E8"/>
                </a:solidFill>
                <a:latin typeface="Calibri"/>
              </a:rPr>
              <a:t>MPEs</a:t>
            </a: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 que fecham citam falta de planejamento financeiro e controle de caixa (Sebrae)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3" y="1645920"/>
            <a:ext cx="2551178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363455" y="1874519"/>
            <a:ext cx="2286000" cy="1588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4000" b="1" i="0" noProof="0" dirty="0">
                <a:solidFill>
                  <a:srgbClr val="DFF25E"/>
                </a:solidFill>
                <a:latin typeface="Calibri"/>
              </a:rPr>
              <a:t>60%+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das tarefas de fechamento já são automatizáveis com agentes (benchmark </a:t>
            </a:r>
            <a:r>
              <a:rPr lang="pt-BR" sz="1400" b="0" i="0" noProof="0" dirty="0" err="1">
                <a:solidFill>
                  <a:srgbClr val="C9D8E8"/>
                </a:solidFill>
                <a:latin typeface="Calibri"/>
              </a:rPr>
              <a:t>HighRadius</a:t>
            </a: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10424160" cy="1097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benchmark global (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BlackLine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HighRadius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Ramp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):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auto-match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 com score de confiança e trilha de auditoria — o humano decide no lançamento, não no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matching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endParaRPr lang="pt-BR" sz="1500" b="1" i="0" noProof="0" dirty="0">
              <a:solidFill>
                <a:srgbClr val="0D2333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pt-BR" sz="1350" b="1" i="0" u="sng" noProof="0" dirty="0">
                <a:solidFill>
                  <a:srgbClr val="112A3D"/>
                </a:solidFill>
                <a:latin typeface="Calibri"/>
              </a:rPr>
              <a:t>&gt;&gt;&gt; É a fronteira que a </a:t>
            </a:r>
            <a:r>
              <a:rPr lang="pt-BR" sz="1350" b="1" i="0" u="sng" noProof="0" dirty="0" err="1">
                <a:solidFill>
                  <a:srgbClr val="112A3D"/>
                </a:solidFill>
                <a:latin typeface="Calibri"/>
              </a:rPr>
              <a:t>Kamino</a:t>
            </a:r>
            <a:r>
              <a:rPr lang="pt-BR" sz="1350" b="1" i="0" u="sng" noProof="0" dirty="0">
                <a:solidFill>
                  <a:srgbClr val="112A3D"/>
                </a:solidFill>
                <a:latin typeface="Calibri"/>
              </a:rPr>
              <a:t> pode levar ao médio mercado brasileiro — com a vantagem única do banco integrado à plataforma. &lt;&lt;&lt;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Fontes: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BFinance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 (2025), Sebrae,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HighRadius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. Números de mercado usados como referência direcional, não como medição própria.</a:t>
            </a:r>
          </a:p>
        </p:txBody>
      </p:sp>
      <p:pic>
        <p:nvPicPr>
          <p:cNvPr id="14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ABCED621-1933-4199-609C-2DD7026D3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PERSONAS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Duas personas, dois modos —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uma mesma </a:t>
            </a:r>
            <a:r>
              <a:rPr lang="pt-BR" sz="3000" b="1" i="0" noProof="0" dirty="0" err="1">
                <a:solidFill>
                  <a:srgbClr val="0D2333"/>
                </a:solidFill>
                <a:latin typeface="Calibri"/>
              </a:rPr>
              <a:t>engine</a:t>
            </a:r>
            <a:endParaRPr lang="pt-BR" sz="3000" b="1" i="0" noProof="0" dirty="0">
              <a:solidFill>
                <a:srgbClr val="0D2333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4800600" cy="3068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5E7182"/>
                </a:solidFill>
                <a:latin typeface="Calibri"/>
              </a:rPr>
              <a:t>A DONA (Beatriz, </a:t>
            </a:r>
            <a:r>
              <a:rPr lang="pt-BR" b="1" i="0" noProof="0" dirty="0" err="1">
                <a:solidFill>
                  <a:srgbClr val="5E7182"/>
                </a:solidFill>
                <a:latin typeface="Calibri"/>
              </a:rPr>
              <a:t>decisora</a:t>
            </a:r>
            <a:r>
              <a:rPr lang="pt-BR" b="1" i="0" noProof="0" dirty="0">
                <a:solidFill>
                  <a:srgbClr val="5E7182"/>
                </a:solidFill>
                <a:latin typeface="Calibri"/>
              </a:rPr>
              <a:t>)</a:t>
            </a:r>
          </a:p>
          <a:p>
            <a:pPr algn="l">
              <a:spcAft>
                <a:spcPts val="1200"/>
              </a:spcAft>
            </a:pPr>
            <a:r>
              <a:rPr lang="pt-BR" sz="2000" b="1" i="1" noProof="0" dirty="0">
                <a:solidFill>
                  <a:srgbClr val="0D2333"/>
                </a:solidFill>
                <a:latin typeface="Calibri"/>
              </a:rPr>
              <a:t>“Abrir e confiar no saldo em 30 segundos.”</a:t>
            </a:r>
          </a:p>
          <a:p>
            <a:pPr algn="l">
              <a:spcAft>
                <a:spcPts val="1200"/>
              </a:spcAft>
            </a:pPr>
            <a:endParaRPr lang="pt-BR" sz="2000" b="1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Briefing do agente + chat: pergunta em linguagem natural, delega, cobra explicação.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Início do dia e fechamento do mês; aprova exceções de valor alto.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O que a convence — 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Evidência a 1 clique e pendências explicadas — não um número seco.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537959" y="1874519"/>
            <a:ext cx="4800600" cy="3068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5E7182"/>
                </a:solidFill>
                <a:latin typeface="Calibri"/>
              </a:rPr>
              <a:t>O ANALISTA FINANCEIRO (Fernando, operador)</a:t>
            </a:r>
          </a:p>
          <a:p>
            <a:pPr algn="l">
              <a:spcAft>
                <a:spcPts val="1200"/>
              </a:spcAft>
            </a:pPr>
            <a:r>
              <a:rPr lang="pt-BR" sz="2000" b="1" i="1" noProof="0" dirty="0">
                <a:solidFill>
                  <a:srgbClr val="0D2333"/>
                </a:solidFill>
                <a:latin typeface="Calibri"/>
              </a:rPr>
              <a:t>“Zerar a fila de pendências do dia.”</a:t>
            </a:r>
          </a:p>
          <a:p>
            <a:pPr algn="l">
              <a:spcAft>
                <a:spcPts val="1200"/>
              </a:spcAft>
            </a:pPr>
            <a:endParaRPr lang="pt-BR" sz="2000" b="1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600" b="0" i="0" noProof="0" dirty="0" err="1">
                <a:solidFill>
                  <a:srgbClr val="112A3D"/>
                </a:solidFill>
                <a:latin typeface="Calibri"/>
              </a:rPr>
              <a:t>Workspace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 com fila e ações em massa; chat para destravar casos ambíguos.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Rotina diária de conciliação; prepara o fechamento para a dona.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O que o convence — </a:t>
            </a:r>
            <a:r>
              <a:rPr lang="pt-BR" sz="1600" b="0" i="0" noProof="0" dirty="0">
                <a:solidFill>
                  <a:srgbClr val="112A3D"/>
                </a:solidFill>
                <a:latin typeface="Calibri"/>
              </a:rPr>
              <a:t>Produtividade: revisar em paralelo, agir em lote, desfazer sem medo.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250" b="1" i="0" noProof="0" dirty="0">
                <a:solidFill>
                  <a:srgbClr val="5E7182"/>
                </a:solidFill>
                <a:latin typeface="Calibri"/>
              </a:rPr>
              <a:t>Hipótese assumida (sinalizada no material): </a:t>
            </a:r>
            <a:r>
              <a:rPr lang="pt-BR" sz="1250" b="0" i="0" noProof="0" dirty="0">
                <a:solidFill>
                  <a:srgbClr val="5E7182"/>
                </a:solidFill>
                <a:latin typeface="Calibri"/>
              </a:rPr>
              <a:t>com 120 funcionários, a dona não concilia linha a linha — existe um financeiro operando. A experiência precisa servir aos dois sem duplicar produto.</a:t>
            </a:r>
          </a:p>
        </p:txBody>
      </p:sp>
      <p:pic>
        <p:nvPicPr>
          <p:cNvPr id="8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CDE56242-2EF3-331C-A42A-CB724AF4C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PRINCÍPIOS DE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Cinco princípios — cada um vira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decisão visível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no protótipo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746504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Confiança se mostra, não se pede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conciliação automática exibe a evidência (valor, data, contraparte) a 1 clique.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67919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Incerteza é informação, não falha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O agente diz “85% de confiança, porque X e Y”. Nunca finge certeza.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38728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61188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Nada é irreversível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ação tem desfazer e trilha de auditoria: quem, quando, com que evidência.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544568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IA não cria fato financeiro sozinha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Conciliar 1:1 exato, sim. Criar lançamento (tarifa, imposto), só com confirmação humana.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404104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477256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saldo confiável é o produto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A métrica-mãe da tela: % do extrato explicado e o que falta para 100%.</a:t>
            </a:r>
          </a:p>
        </p:txBody>
      </p:sp>
      <p:pic>
        <p:nvPicPr>
          <p:cNvPr id="13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6E265B-85CA-07E2-6AA7-28E4001C4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4"/>
          <a:stretch>
            <a:fillRect/>
          </a:stretch>
        </p:blipFill>
        <p:spPr bwMode="auto">
          <a:xfrm>
            <a:off x="9792928" y="5634621"/>
            <a:ext cx="2399071" cy="122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CONCEITO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Fechamento assistido por agente: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chat protagonista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UI de apoio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760720" cy="715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Intenção em linguagem natural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“Mostra o lote”, “por que é retenção?”, “concilia o que for ≥ 90%”. O chat captura a intenção — sem caçar menu.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61488"/>
            <a:ext cx="5760720" cy="715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Respostas em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Cards de sugestão, tabelas de lote e botões de ação renderizados na conversa — não texto corrido.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77056"/>
            <a:ext cx="5760720" cy="715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Estado persistente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4 saldos sempre visíveis: banco, interno, conciliado e pendências. Confiança não mora em bolha de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624"/>
            <a:ext cx="5760720" cy="715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 i="0" noProof="0" dirty="0">
                <a:solidFill>
                  <a:srgbClr val="0D2333"/>
                </a:solidFill>
                <a:latin typeface="Calibri"/>
              </a:rPr>
              <a:t>Auditável e reversível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Texto, voz ou clique — toda ação vira evento estruturado com autor, evidência e desfazer.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49377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D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572000" cy="566928"/>
          </a:xfrm>
          <a:prstGeom prst="roundRect">
            <a:avLst>
              <a:gd name="adj" fmla="val 15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967728" y="188366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050" b="1" i="0" noProof="0" dirty="0">
                <a:solidFill>
                  <a:srgbClr val="DFF25E"/>
                </a:solidFill>
                <a:latin typeface="Calibri"/>
              </a:rPr>
              <a:t>Banco 12.305  ·  Interno 11.700  ·  Conciliado 92%  ·  Pendências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14600"/>
            <a:ext cx="23317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995160" y="269748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086600" y="2770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Conciliei 2 de 7 automaticamente. Tenho 4 sugestões.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6118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mostra o 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20624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086600" y="4279392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LOTE 3382 · R$ 4.500 = 3 títulos Beta  [Conciliar] [Detalhar]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40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chat + cards de 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51460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4640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950" b="1" i="0" noProof="0" dirty="0">
                <a:solidFill>
                  <a:srgbClr val="0D2333"/>
                </a:solidFill>
                <a:latin typeface="Calibri"/>
              </a:rPr>
              <a:t>PENDÊNCIAS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9718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9555480" y="30632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Retenção Gama · sugerido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64845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9555480" y="3739896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Parcial Delta · sugerido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32511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9555480" y="441655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Tarifa R$ 45 · criar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00176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9555480" y="509320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CR Sigma · sem mov.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705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fila do analista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OS DADOS DO CASE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Apêndice: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7 situações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4 níveis de 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553965"/>
              </p:ext>
            </p:extLst>
          </p:nvPr>
        </p:nvGraphicFramePr>
        <p:xfrm>
          <a:off x="548640" y="1554480"/>
          <a:ext cx="11091672" cy="4011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Extrato (</a:t>
                      </a:r>
                      <a:r>
                        <a:rPr lang="pt-BR" sz="1050" b="1" noProof="0" dirty="0" err="1">
                          <a:solidFill>
                            <a:srgbClr val="DFF25E"/>
                          </a:solidFill>
                          <a:latin typeface="Calibri"/>
                        </a:rPr>
                        <a:t>jun</a:t>
                      </a:r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Títulos em aberto na plataforma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Ação do agente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05/06 · −3.200 · ALFA TEC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CP-001 (3.200)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09/06 · +4.200 · OMEGA VAREJO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CR-002 (4.200)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08/06 · +6.000 · JOAO P DA SILVA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CR-001 · Consultoria Silva 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Divergência de nome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valor + data batem; nome ≈ sócio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10/06 · −4.500 · LOTE 3382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CP-002+003+004 (3 × 1.500)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em lote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agrupamento: soma exata, mesma contraparte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12/06 · −9.350 · GAMA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CP-005 (10.000)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Retenção de imposto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650 = ISS 5% + IRRF 1,5% — confirma antes de lançar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15/06 · −5.000 · DELTA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CP-006 (8.000)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parcial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baixa parcial; mantém 3.000 em aberto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14/06 · −45 · TARIFA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Tarifa bancária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Propõe criar despesa; humano confirma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+mn-lt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+mn-lt"/>
                        </a:rPr>
                        <a:t>CR-003 · Sigma Ltda (20/06)</a:t>
                      </a:r>
                      <a:endParaRPr lang="pt-BR" sz="1050" noProof="0" dirty="0">
                        <a:solidFill>
                          <a:srgbClr val="112A3D"/>
                        </a:solidFill>
                        <a:latin typeface="Calibri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Em aberto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Sinaliza atraso e impacto no fluxo de caixa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5818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685282"/>
            <a:ext cx="11091672" cy="806958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5818446"/>
            <a:ext cx="10424160" cy="445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CR-003 (Sigma, R$ 2.500, venc. 20/06) não tem linha no extrato. Não é erro de </a:t>
            </a:r>
            <a:r>
              <a:rPr lang="pt-BR" sz="1350" b="0" i="0" noProof="0" dirty="0" err="1">
                <a:solidFill>
                  <a:srgbClr val="FFFFFF"/>
                </a:solidFill>
                <a:latin typeface="Calibri"/>
              </a:rPr>
              <a:t>matching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 — é recebimento em atraso, e o agente o destaca porque afeta o saldo previsto no fluxo de caixa.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DEMONSTRAÇÃO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Riscos assumidos e o que </a:t>
            </a:r>
            <a:r>
              <a:rPr sz="3000" b="1" i="0">
                <a:solidFill>
                  <a:srgbClr val="DFF25E"/>
                </a:solidFill>
                <a:latin typeface="Calibri"/>
              </a:rPr>
              <a:t>entregaremos ao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COMPÕEM A ENTREGA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167128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48256"/>
            <a:ext cx="4389120" cy="639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Motor de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conciliação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 dirty="0">
                <a:solidFill>
                  <a:srgbClr val="C9D8E8"/>
                </a:solidFill>
                <a:latin typeface="Calibri"/>
              </a:rPr>
              <a:t>Matching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automático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1:1 e score de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confiança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explicado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para as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exceções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44368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191256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72384"/>
            <a:ext cx="4389120" cy="445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Agente com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O chat comanda; cards, tabelas e botões de ação nascem na conversa.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6849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215383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96511"/>
            <a:ext cx="4389120" cy="639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 saldos + fila de pendências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Estado persistente: banco, interno, conciliado e pendências sempre visíveis.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2624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239512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4389120" cy="445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Auditoria e desfazer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Todo evento com autor, evidência e reversão a 1 clique.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81328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RISCOS E MITIGAÇÕES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30952" cy="12527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066544"/>
            <a:ext cx="4800600" cy="661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Chat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serializa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revisão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massa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C9D8E8"/>
                </a:solidFill>
                <a:latin typeface="Calibri"/>
              </a:rPr>
              <a:t>Mitigado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design: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híbrido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com fila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persistente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e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ações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em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lote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— o chat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comanda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C9D8E8"/>
                </a:solidFill>
                <a:latin typeface="Calibri"/>
              </a:rPr>
              <a:t>aprisiona</a:t>
            </a:r>
            <a:r>
              <a:rPr sz="1200" b="0" i="0" dirty="0">
                <a:solidFill>
                  <a:srgbClr val="C9D8E8"/>
                </a:solidFill>
                <a:latin typeface="Calibr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91840"/>
            <a:ext cx="5330952" cy="12527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438144"/>
            <a:ext cx="4800600" cy="4621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Score de confiança errado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Reversibilidade total + lote auditável + taxa de reversão como KPI vigiado.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663440"/>
            <a:ext cx="5330952" cy="12527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809744"/>
            <a:ext cx="4800600" cy="4621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Expectativa de “IA mágica”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C9D8E8"/>
                </a:solidFill>
                <a:latin typeface="Calibri"/>
              </a:rPr>
              <a:t>Incerteza explícita na interface; o agente mostra evidências, não veredictos.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35040"/>
            <a:ext cx="11091672" cy="5669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163056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err="1">
                <a:solidFill>
                  <a:srgbClr val="DFF25E"/>
                </a:solidFill>
                <a:latin typeface="Calibri"/>
              </a:rPr>
              <a:t>Tudo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isso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está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funcionando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na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demo →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protótipo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navegável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com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os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dados do case,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reinicializável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ao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vivo.</a:t>
            </a:r>
          </a:p>
        </p:txBody>
      </p:sp>
      <p:pic>
        <p:nvPicPr>
          <p:cNvPr id="26" name="Picture 1" descr="image.png">
            <a:extLst>
              <a:ext uri="{FF2B5EF4-FFF2-40B4-BE49-F238E27FC236}">
                <a16:creationId xmlns:a16="http://schemas.microsoft.com/office/drawing/2014/main" id="{F5A34131-DACD-80C6-43E7-B1A2A188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72" y="-827970"/>
            <a:ext cx="2433527" cy="2433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72" y="-827970"/>
            <a:ext cx="2433527" cy="24335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>
                <a:solidFill>
                  <a:srgbClr val="DFF25E"/>
                </a:solidFill>
                <a:latin typeface="Calibri"/>
              </a:rPr>
              <a:t>TRANSPARÊNCIA</a:t>
            </a:r>
          </a:p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Calibri"/>
              </a:rPr>
              <a:t>O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fica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000" b="1" i="0" dirty="0">
                <a:solidFill>
                  <a:srgbClr val="DFF25E"/>
                </a:solidFill>
                <a:latin typeface="Calibri"/>
              </a:rPr>
              <a:t>de fora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 v1</a:t>
            </a:r>
            <a:r>
              <a:rPr lang="pt-BR" sz="3000" b="1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e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mostra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o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potencial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4800600" cy="10818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FFFFFF"/>
                </a:solidFill>
                <a:latin typeface="Calibri"/>
              </a:rPr>
              <a:t>Regras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aprendidas</a:t>
            </a:r>
            <a:endParaRPr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 err="1">
                <a:solidFill>
                  <a:srgbClr val="C9D8E8"/>
                </a:solidFill>
                <a:latin typeface="Calibri"/>
              </a:rPr>
              <a:t>Automatizar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tarifa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recorrente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só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depois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confirmação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repetida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 do </a:t>
            </a:r>
            <a:r>
              <a:rPr sz="1400" b="0" i="0" dirty="0" err="1">
                <a:solidFill>
                  <a:srgbClr val="C9D8E8"/>
                </a:solidFill>
                <a:latin typeface="Calibri"/>
              </a:rPr>
              <a:t>usuário</a:t>
            </a:r>
            <a:r>
              <a:rPr sz="1400" b="0" i="0" dirty="0">
                <a:solidFill>
                  <a:srgbClr val="C9D8E8"/>
                </a:solidFill>
                <a:latin typeface="Calibri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DFF25E"/>
                </a:solidFill>
                <a:latin typeface="Calibri"/>
              </a:rPr>
              <a:t>Entra </a:t>
            </a:r>
            <a:r>
              <a:rPr sz="1200" b="1" i="0" dirty="0" err="1">
                <a:solidFill>
                  <a:srgbClr val="DFF25E"/>
                </a:solidFill>
                <a:latin typeface="Calibri"/>
              </a:rPr>
              <a:t>quando</a:t>
            </a:r>
            <a:r>
              <a:rPr sz="1200" b="1" i="0" dirty="0">
                <a:solidFill>
                  <a:srgbClr val="DFF25E"/>
                </a:solidFill>
                <a:latin typeface="Calibri"/>
              </a:rPr>
              <a:t>: N </a:t>
            </a:r>
            <a:r>
              <a:rPr sz="1200" b="1" i="0" dirty="0" err="1">
                <a:solidFill>
                  <a:srgbClr val="DFF25E"/>
                </a:solidFill>
                <a:latin typeface="Calibri"/>
              </a:rPr>
              <a:t>confirmações</a:t>
            </a:r>
            <a:r>
              <a:rPr sz="12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DFF25E"/>
                </a:solidFill>
                <a:latin typeface="Calibri"/>
              </a:rPr>
              <a:t>idênticas</a:t>
            </a:r>
            <a:r>
              <a:rPr sz="1200" b="1" i="0" dirty="0">
                <a:solidFill>
                  <a:srgbClr val="DFF25E"/>
                </a:solidFill>
                <a:latin typeface="Calibri"/>
              </a:rPr>
              <a:t> no </a:t>
            </a:r>
            <a:r>
              <a:rPr sz="1200" b="1" i="0" dirty="0" err="1">
                <a:solidFill>
                  <a:srgbClr val="DFF25E"/>
                </a:solidFill>
                <a:latin typeface="Calibri"/>
              </a:rPr>
              <a:t>piloto</a:t>
            </a:r>
            <a:r>
              <a:rPr sz="1200" b="1" i="0" dirty="0">
                <a:solidFill>
                  <a:srgbClr val="DFF25E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002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800600" cy="8448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Calibri"/>
              </a:rPr>
              <a:t>Voz e outros formatos de entrada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9D8E8"/>
                </a:solidFill>
                <a:latin typeface="Calibri"/>
              </a:rPr>
              <a:t>Áudio e importação de novos formatos, mostrados como visão.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Entra quando: demanda comprovada no piloto.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840480"/>
            <a:ext cx="4800600" cy="8448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Calibri"/>
              </a:rPr>
              <a:t>Multiconta e multimoeda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9D8E8"/>
                </a:solidFill>
                <a:latin typeface="Calibri"/>
              </a:rPr>
              <a:t>MVP prova valor em 1 conta antes de escalar complexidade.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Entra quando: KPIs do rollout batidos.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80"/>
            <a:ext cx="4800600" cy="10818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FFFFFF"/>
                </a:solidFill>
                <a:latin typeface="Calibri"/>
              </a:rPr>
              <a:t>Open Finance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9D8E8"/>
                </a:solidFill>
                <a:latin typeface="Calibri"/>
              </a:rPr>
              <a:t>Aproveitar a estrutura de IP da Kamino para conciliar contas externas com a mesma agilidade.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Entra quando: escala de contas externas justificar.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4241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DFF25E"/>
                </a:solidFill>
                <a:latin typeface="Calibri"/>
              </a:rPr>
              <a:t>Corte é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decisão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,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não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omissão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a v1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prova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valor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1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conta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e 1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fluxo</a:t>
            </a:r>
            <a:r>
              <a:rPr lang="pt-BR" sz="1600" dirty="0">
                <a:solidFill>
                  <a:srgbClr val="FFFFFF"/>
                </a:solidFill>
                <a:latin typeface="Calibri"/>
              </a:rPr>
              <a:t>. C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ada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item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acima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tem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gatilho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claro para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entrar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no roadmap.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USO DE IA COM JULGAMENTO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Autonomia proporcional ao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risco financeiro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3108960" cy="2616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AGE SOZINHA</a:t>
            </a:r>
          </a:p>
          <a:p>
            <a:pPr algn="l">
              <a:spcAft>
                <a:spcPts val="1000"/>
              </a:spcAft>
            </a:pPr>
            <a:r>
              <a:rPr lang="pt-BR" sz="1600" b="0" i="1" noProof="0" dirty="0">
                <a:solidFill>
                  <a:srgbClr val="0D2333"/>
                </a:solidFill>
                <a:latin typeface="Calibri"/>
              </a:rPr>
              <a:t>Risco baixíssimo</a:t>
            </a:r>
          </a:p>
          <a:p>
            <a:pPr algn="l">
              <a:spcAft>
                <a:spcPts val="1000"/>
              </a:spcAft>
            </a:pPr>
            <a:endParaRPr lang="pt-BR" sz="1600" b="0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0D2333"/>
                </a:solidFill>
                <a:latin typeface="Calibri"/>
              </a:rPr>
              <a:t>•  Correspondência exata de valor + data próxima + contraparte compatível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0D2333"/>
                </a:solidFill>
                <a:latin typeface="Calibri"/>
              </a:rPr>
              <a:t>•  Casos do case: Alfa (CP-001) e Ômega (CR-002)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0D2333"/>
                </a:solidFill>
                <a:latin typeface="Calibri"/>
              </a:rPr>
              <a:t>•  Sempre com evidência anexada e desfazer a 1 clique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553712" y="1828800"/>
            <a:ext cx="3108960" cy="2616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FFFFFF"/>
                </a:solidFill>
                <a:latin typeface="Calibri"/>
              </a:rPr>
              <a:t>SUGERE E PEDE CONFIRMAÇÃO</a:t>
            </a:r>
          </a:p>
          <a:p>
            <a:pPr algn="l">
              <a:spcAft>
                <a:spcPts val="1000"/>
              </a:spcAft>
            </a:pPr>
            <a:r>
              <a:rPr lang="pt-BR" sz="1600" b="0" i="1" noProof="0" dirty="0">
                <a:solidFill>
                  <a:srgbClr val="FFFFFF"/>
                </a:solidFill>
                <a:latin typeface="Calibri"/>
              </a:rPr>
              <a:t>Ambiguidade controlada</a:t>
            </a:r>
          </a:p>
          <a:p>
            <a:pPr algn="l">
              <a:spcAft>
                <a:spcPts val="1000"/>
              </a:spcAft>
            </a:pPr>
            <a:endParaRPr lang="pt-BR" sz="1600" b="0" i="1" noProof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FFFFFF"/>
                </a:solidFill>
                <a:latin typeface="Calibri"/>
              </a:rPr>
              <a:t>•  Nome divergente, lote, retenção provável, pagamento parcial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FFFFFF"/>
                </a:solidFill>
                <a:latin typeface="Calibri"/>
              </a:rPr>
              <a:t>•  Score de confiança explicado: quais evidências sustentam a hipótese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FFFFFF"/>
                </a:solidFill>
                <a:latin typeface="Calibri"/>
              </a:rPr>
              <a:t>•  Humano confirma em 1 clique; edição fácil se discordar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84464" y="1828800"/>
            <a:ext cx="3108960" cy="2616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b="1" i="0" noProof="0" dirty="0">
                <a:solidFill>
                  <a:srgbClr val="C9D8E8"/>
                </a:solidFill>
                <a:latin typeface="Calibri"/>
              </a:rPr>
              <a:t>ESCALA PARA O HUMANO</a:t>
            </a:r>
          </a:p>
          <a:p>
            <a:pPr algn="l">
              <a:spcAft>
                <a:spcPts val="1000"/>
              </a:spcAft>
            </a:pPr>
            <a:r>
              <a:rPr lang="pt-BR" sz="1600" b="0" i="1" noProof="0" dirty="0">
                <a:solidFill>
                  <a:srgbClr val="C9D8E8"/>
                </a:solidFill>
                <a:latin typeface="Calibri"/>
              </a:rPr>
              <a:t>Risco financeiro real</a:t>
            </a:r>
          </a:p>
          <a:p>
            <a:pPr algn="l">
              <a:spcAft>
                <a:spcPts val="1000"/>
              </a:spcAft>
            </a:pPr>
            <a:endParaRPr lang="pt-BR" sz="1600" b="0" i="1" noProof="0" dirty="0">
              <a:solidFill>
                <a:srgbClr val="C9D8E8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•  Criação/alteração de lançamento (tarifa, imposto), múltiplas hipóteses plausíveis, valor alto ou baixa confiança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•  O agente prepara o contexto e as opções; o humano decide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400" b="0" i="0" noProof="0" dirty="0">
                <a:solidFill>
                  <a:srgbClr val="C9D8E8"/>
                </a:solidFill>
                <a:latin typeface="Calibri"/>
              </a:rPr>
              <a:t>•  Nada de baixa automática irreversível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300" b="1" i="0" noProof="0" dirty="0">
                <a:solidFill>
                  <a:srgbClr val="0D2333"/>
                </a:solidFill>
                <a:latin typeface="Calibri"/>
              </a:rPr>
              <a:t>Regra de ouro: </a:t>
            </a:r>
            <a:r>
              <a:rPr lang="pt-BR" sz="1300" b="0" i="0" noProof="0" dirty="0">
                <a:solidFill>
                  <a:srgbClr val="112A3D"/>
                </a:solidFill>
                <a:latin typeface="Calibri"/>
              </a:rPr>
              <a:t>a IA nunca cria fato financeiro sem confirmação humana — ela prepara a decisão. Autonomia se ganha com histórico (regras aprendidas ficam para a evolução, não para a v1).</a:t>
            </a:r>
          </a:p>
        </p:txBody>
      </p:sp>
      <p:pic>
        <p:nvPicPr>
          <p:cNvPr id="10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9D0201E2-A50E-B3C9-7FFA-B6D431F9F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PLANO DE ENTREGA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Como eu tocaria na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vida real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: esforço, </a:t>
            </a:r>
            <a:r>
              <a:rPr lang="pt-BR" sz="3000" b="1" i="0" noProof="0" dirty="0" err="1">
                <a:solidFill>
                  <a:srgbClr val="112A3D"/>
                </a:solidFill>
                <a:latin typeface="Calibri"/>
              </a:rPr>
              <a:t>capacity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e prazo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49808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59152"/>
            <a:ext cx="1783080" cy="1322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Discovery + design</a:t>
            </a:r>
          </a:p>
          <a:p>
            <a:pPr algn="l">
              <a:spcAft>
                <a:spcPts val="500"/>
              </a:spcAft>
            </a:pPr>
            <a:r>
              <a:rPr lang="pt-BR" sz="1600" b="1" dirty="0">
                <a:solidFill>
                  <a:srgbClr val="5E7182"/>
                </a:solidFill>
                <a:latin typeface="Calibri"/>
              </a:rPr>
              <a:t>2</a:t>
            </a:r>
            <a:r>
              <a:rPr lang="pt-BR" sz="16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Spikes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de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com dados reais de clientes; protótipo validado com 5 clientes; corte de escopo do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2984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02463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632" y="2359152"/>
            <a:ext cx="1783080" cy="1322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Build do MVP</a:t>
            </a:r>
          </a:p>
          <a:p>
            <a:pPr algn="l">
              <a:spcAft>
                <a:spcPts val="500"/>
              </a:spcAft>
            </a:pPr>
            <a:r>
              <a:rPr lang="pt-BR" sz="1600" b="1" dirty="0">
                <a:solidFill>
                  <a:srgbClr val="5E7182"/>
                </a:solidFill>
                <a:latin typeface="Calibri"/>
              </a:rPr>
              <a:t>3</a:t>
            </a:r>
            <a:r>
              <a:rPr lang="pt-BR" sz="16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Motor de conciliação + trilha de auditoria + agente com UI generativa;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hardening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e permissões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7167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527913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9135" y="2359152"/>
            <a:ext cx="1783080" cy="1322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Piloto</a:t>
            </a:r>
          </a:p>
          <a:p>
            <a:pPr algn="l">
              <a:spcAft>
                <a:spcPts val="500"/>
              </a:spcAft>
            </a:pPr>
            <a:r>
              <a:rPr lang="pt-BR" sz="1600" b="1" dirty="0">
                <a:solidFill>
                  <a:srgbClr val="5E7182"/>
                </a:solidFill>
                <a:latin typeface="Calibri"/>
              </a:rPr>
              <a:t>4</a:t>
            </a:r>
            <a:r>
              <a:rPr lang="pt-BR" sz="16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5–10 clientes perfil Acme, 2 ciclos reais de fechamento; CS junto; critérios de saída definidos 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1351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7513320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320" y="2359152"/>
            <a:ext cx="1783080" cy="1140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b="1" i="0" noProof="0" dirty="0" err="1">
                <a:solidFill>
                  <a:srgbClr val="0D2333"/>
                </a:solidFill>
                <a:latin typeface="Calibri"/>
              </a:rPr>
              <a:t>Rollout</a:t>
            </a: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 controlado</a:t>
            </a:r>
          </a:p>
          <a:p>
            <a:pPr algn="l">
              <a:spcAft>
                <a:spcPts val="500"/>
              </a:spcAft>
            </a:pPr>
            <a:r>
              <a:rPr lang="pt-BR" sz="1600" b="1" dirty="0">
                <a:solidFill>
                  <a:srgbClr val="5E7182"/>
                </a:solidFill>
                <a:latin typeface="Calibri"/>
              </a:rPr>
              <a:t>4</a:t>
            </a:r>
            <a:r>
              <a:rPr lang="pt-BR" sz="16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Coortes por perfil, feature flag, régua de progressão por KPI;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rollback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pronto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5375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Oval 15"/>
          <p:cNvSpPr/>
          <p:nvPr/>
        </p:nvSpPr>
        <p:spPr>
          <a:xfrm>
            <a:off x="972718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7184" y="2359152"/>
            <a:ext cx="1783080" cy="1140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GA</a:t>
            </a:r>
          </a:p>
          <a:p>
            <a:pPr algn="l">
              <a:spcAft>
                <a:spcPts val="500"/>
              </a:spcAft>
            </a:pPr>
            <a:r>
              <a:rPr lang="pt-BR" sz="1600" b="1" i="0" noProof="0" dirty="0">
                <a:solidFill>
                  <a:srgbClr val="5E7182"/>
                </a:solidFill>
                <a:latin typeface="Calibri"/>
              </a:rPr>
              <a:t>—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Disponível para a base; inicia evolução: regras aprendidas,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, ações em massa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6766560" cy="16002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6126480" cy="8976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SQUAD (CAPACITY)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1 PM · 1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Product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Designer · 1 Tech Lead + 3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eng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(2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back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, 1 front) · 1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eng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de dados/ML em tempo parcial · CX/CS dedicados no piloto  ≈  6,5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FTEs</a:t>
            </a:r>
            <a:endParaRPr lang="pt-BR" sz="1250" b="0" i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pt-BR" sz="1250" b="1" i="0" noProof="0" dirty="0">
                <a:solidFill>
                  <a:srgbClr val="DFF25E"/>
                </a:solidFill>
                <a:latin typeface="Calibri"/>
              </a:rPr>
              <a:t>~3 meses do </a:t>
            </a:r>
            <a:r>
              <a:rPr lang="pt-BR" sz="1250" b="1" i="0" noProof="0" dirty="0" err="1">
                <a:solidFill>
                  <a:srgbClr val="DFF25E"/>
                </a:solidFill>
                <a:latin typeface="Calibri"/>
              </a:rPr>
              <a:t>kickoff</a:t>
            </a:r>
            <a:r>
              <a:rPr lang="pt-BR" sz="1250" b="1" i="0" noProof="0" dirty="0">
                <a:solidFill>
                  <a:srgbClr val="DFF25E"/>
                </a:solidFill>
                <a:latin typeface="Calibri"/>
              </a:rPr>
              <a:t> ao GA, perfeitamente funcional.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754880"/>
            <a:ext cx="4142232" cy="160020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818120" y="4956048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0D2333"/>
                </a:solidFill>
                <a:latin typeface="Calibri"/>
              </a:rPr>
              <a:t>PREMISSAS DA ESTIMATIVA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Estimativa de partida, calibrada em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planning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com engenharia. Assume extrato já integrado (banco próprio + Open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Finance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) e aproveita o motor de lote/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Sispag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existente.</a:t>
            </a:r>
          </a:p>
        </p:txBody>
      </p:sp>
      <p:pic>
        <p:nvPicPr>
          <p:cNvPr id="22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0F5A5F90-E6DF-BE00-11AE-F988A86CD3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DO CASE AO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Faseamento de entrega e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KPIs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de sucesso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792224"/>
            <a:ext cx="5029200" cy="7700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MVP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Conciliação de 1 conta: </a:t>
            </a:r>
            <a:r>
              <a:rPr lang="pt-BR" sz="140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 automático 1:1, sugestões explicadas para os 5 tipos de exceção, trilha de auditoria e desfazer.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72384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3218688"/>
            <a:ext cx="5029200" cy="7700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BETA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5–10 clientes com perfil Acme, 2 ciclos de fechamento completos, CS acompanhando; critérios de saída definidos antes de entrar.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98848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4645152"/>
            <a:ext cx="5029200" cy="1002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b="1" i="0" noProof="0" dirty="0">
                <a:solidFill>
                  <a:srgbClr val="0D2333"/>
                </a:solidFill>
                <a:latin typeface="Calibri"/>
              </a:rPr>
              <a:t>GA / EVOLUÇÃO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40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400" b="0" i="0" noProof="0" dirty="0">
                <a:solidFill>
                  <a:srgbClr val="112A3D"/>
                </a:solidFill>
                <a:latin typeface="Calibri"/>
              </a:rPr>
              <a:t>, ações em massa via chat, regras aprendidas (ex.: tarifa recorrente), importação automática via banco integrado</a:t>
            </a:r>
            <a:r>
              <a:rPr lang="pt-BR" sz="1400" dirty="0">
                <a:solidFill>
                  <a:srgbClr val="112A3D"/>
                </a:solidFill>
                <a:latin typeface="Calibri"/>
              </a:rPr>
              <a:t>, outros procedimentos financeiros de grande impacto operacional.</a:t>
            </a:r>
            <a:endParaRPr lang="pt-BR" sz="1400" b="0" i="0" noProof="0" dirty="0">
              <a:solidFill>
                <a:srgbClr val="112A3D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42098"/>
              </p:ext>
            </p:extLst>
          </p:nvPr>
        </p:nvGraphicFramePr>
        <p:xfrm>
          <a:off x="6400800" y="1645920"/>
          <a:ext cx="52395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Meta (beta)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linhas do extrato conciliadas sem toque humano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60%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Tempo de fechamento mensal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de horas p/ &lt; 30 min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sugestões aceitas sem edição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Taxa de reversão de conciliações (proxy de confiança)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&lt; 2%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do extrato explicado (métrica-mãe do usuário)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100% ao fechar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50" b="0" i="1" noProof="0" dirty="0">
                <a:solidFill>
                  <a:srgbClr val="5E7182"/>
                </a:solidFill>
                <a:latin typeface="Calibri"/>
              </a:rPr>
              <a:t>Metas são hipóteses de partida </a:t>
            </a:r>
            <a:r>
              <a:rPr lang="pt-BR" sz="1150" i="1" noProof="0" dirty="0">
                <a:solidFill>
                  <a:srgbClr val="5E7182"/>
                </a:solidFill>
              </a:rPr>
              <a:t>— calibradas no piloto com engenharia e CS, não prometidas antes de medir. São elas que autorizam cada coorte do </a:t>
            </a:r>
            <a:r>
              <a:rPr lang="pt-BR" sz="1150" i="1" noProof="0" dirty="0" err="1">
                <a:solidFill>
                  <a:srgbClr val="5E7182"/>
                </a:solidFill>
              </a:rPr>
              <a:t>rollout</a:t>
            </a:r>
            <a:r>
              <a:rPr lang="pt-BR" sz="1150" i="1" noProof="0" dirty="0">
                <a:solidFill>
                  <a:srgbClr val="5E7182"/>
                </a:solidFill>
              </a:rPr>
              <a:t>.</a:t>
            </a:r>
            <a:endParaRPr lang="pt-BR" sz="1150" b="0" i="1" noProof="0" dirty="0">
              <a:solidFill>
                <a:srgbClr val="5E7182"/>
              </a:solidFill>
              <a:latin typeface="Calibri"/>
            </a:endParaRPr>
          </a:p>
        </p:txBody>
      </p:sp>
      <p:pic>
        <p:nvPicPr>
          <p:cNvPr id="11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1B5794-AE2C-FB01-3AF8-251FAD591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928" y="-1"/>
            <a:ext cx="2399071" cy="1055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MÉTODO DE TRABALHO — O MESMO CRITÉRIO QUE PROPONHO NO PRODUTO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Como usei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IA neste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3127248" cy="21718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b="1" i="0" dirty="0">
                <a:solidFill>
                  <a:srgbClr val="0D2333"/>
                </a:solidFill>
                <a:latin typeface="Calibri"/>
              </a:rPr>
              <a:t>COWORK</a:t>
            </a:r>
          </a:p>
          <a:p>
            <a:pPr algn="l">
              <a:spcAft>
                <a:spcPts val="800"/>
              </a:spcAft>
            </a:pPr>
            <a:r>
              <a:rPr sz="1400" b="0" i="1" dirty="0">
                <a:solidFill>
                  <a:srgbClr val="5E7182"/>
                </a:solidFill>
                <a:latin typeface="Calibri"/>
              </a:rPr>
              <a:t>Discovery e plano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Centralizei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materiais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do case 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prints da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plataforma</a:t>
            </a:r>
            <a:endParaRPr sz="1400" b="0" i="0" dirty="0">
              <a:solidFill>
                <a:srgbClr val="112A3D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Pesquisa de mercado 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dor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com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fontes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verificadas</a:t>
            </a:r>
            <a:endParaRPr sz="1400" b="0" i="0" dirty="0">
              <a:solidFill>
                <a:srgbClr val="112A3D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Plano de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execução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este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material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construídos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cocriação</a:t>
            </a:r>
            <a:endParaRPr sz="1400" b="0" i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9392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3542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359152"/>
            <a:ext cx="3127248" cy="24088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b="1" i="0" dirty="0">
                <a:solidFill>
                  <a:srgbClr val="0D2333"/>
                </a:solidFill>
                <a:latin typeface="Calibri"/>
              </a:rPr>
              <a:t>CLAUDE + DESIGN</a:t>
            </a:r>
          </a:p>
          <a:p>
            <a:pPr algn="l">
              <a:spcAft>
                <a:spcPts val="800"/>
              </a:spcAft>
            </a:pPr>
            <a:r>
              <a:rPr sz="1400" b="0" i="1" dirty="0">
                <a:solidFill>
                  <a:srgbClr val="5E7182"/>
                </a:solidFill>
                <a:latin typeface="Calibri"/>
              </a:rPr>
              <a:t>Design system e </a:t>
            </a:r>
            <a:r>
              <a:rPr sz="1400" b="0" i="1" dirty="0" err="1">
                <a:solidFill>
                  <a:srgbClr val="5E7182"/>
                </a:solidFill>
                <a:latin typeface="Calibri"/>
              </a:rPr>
              <a:t>protótipo</a:t>
            </a:r>
            <a:r>
              <a:rPr sz="1400" b="0" i="1" dirty="0">
                <a:solidFill>
                  <a:srgbClr val="5E7182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5E7182"/>
                </a:solidFill>
                <a:latin typeface="Calibri"/>
              </a:rPr>
              <a:t>inicial</a:t>
            </a:r>
            <a:endParaRPr sz="1400" b="0" i="1" dirty="0">
              <a:solidFill>
                <a:srgbClr val="5E718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Design system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básico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a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partir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referências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públicas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da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documentação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da Kamino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Direção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visual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alinhada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à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marca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(navy + lime)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Primeiro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protótipo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da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experiência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conciliação</a:t>
            </a:r>
            <a:endParaRPr sz="1400" b="0" i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6617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2359152"/>
            <a:ext cx="3127248" cy="21718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b="1" i="0" dirty="0">
                <a:solidFill>
                  <a:srgbClr val="0D2333"/>
                </a:solidFill>
                <a:latin typeface="Calibri"/>
              </a:rPr>
              <a:t>CLAUDE CODE</a:t>
            </a:r>
          </a:p>
          <a:p>
            <a:pPr algn="l">
              <a:spcAft>
                <a:spcPts val="800"/>
              </a:spcAft>
            </a:pPr>
            <a:r>
              <a:rPr sz="1400" b="0" i="1" dirty="0">
                <a:solidFill>
                  <a:srgbClr val="5E7182"/>
                </a:solidFill>
                <a:latin typeface="Calibri"/>
              </a:rPr>
              <a:t>Mock </a:t>
            </a:r>
            <a:r>
              <a:rPr sz="1400" b="0" i="1" dirty="0" err="1">
                <a:solidFill>
                  <a:srgbClr val="5E7182"/>
                </a:solidFill>
                <a:latin typeface="Calibri"/>
              </a:rPr>
              <a:t>funcional</a:t>
            </a:r>
            <a:endParaRPr sz="1400" b="0" i="1" dirty="0">
              <a:solidFill>
                <a:srgbClr val="5E718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Codificação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evolução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do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protótipo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navegável</a:t>
            </a:r>
            <a:endParaRPr sz="1400" b="0" i="0" dirty="0">
              <a:solidFill>
                <a:srgbClr val="112A3D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Dados do case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mockados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, com reset para demo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ao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vivo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12A3D"/>
                </a:solidFill>
                <a:latin typeface="Calibri"/>
              </a:rPr>
              <a:t>• 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Iteração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rápida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: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cada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decisão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produto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virou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código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no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mesmo</a:t>
            </a:r>
            <a:r>
              <a:rPr sz="1400" b="0" i="0" dirty="0">
                <a:solidFill>
                  <a:srgbClr val="112A3D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12A3D"/>
                </a:solidFill>
                <a:latin typeface="Calibri"/>
              </a:rPr>
              <a:t>dia</a:t>
            </a:r>
            <a:endParaRPr sz="1400" b="0" i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413248"/>
            <a:ext cx="10424160" cy="536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DFF25E"/>
                </a:solidFill>
                <a:latin typeface="Calibri"/>
              </a:rPr>
              <a:t>A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mesma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fronteira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do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produto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,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aplicada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ao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DFF25E"/>
                </a:solidFill>
                <a:latin typeface="Calibri"/>
              </a:rPr>
              <a:t>processo</a:t>
            </a:r>
            <a:r>
              <a:rPr sz="1600" b="1" i="0" dirty="0">
                <a:solidFill>
                  <a:srgbClr val="DFF25E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a IA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executou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pesquisa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, design e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código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As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decisões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enquadramento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do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problema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modelagem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financeira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fronteira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risco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priorização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ficaram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comigo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9509760" y="4937760"/>
            <a:ext cx="2194560" cy="15544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Isosceles Triangle 2"/>
          <p:cNvSpPr/>
          <p:nvPr/>
        </p:nvSpPr>
        <p:spPr>
          <a:xfrm>
            <a:off x="10881360" y="4480560"/>
            <a:ext cx="2743200" cy="20116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POR QUE EU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O que eu entrego para a </a:t>
            </a:r>
            <a:r>
              <a:rPr lang="pt-BR" sz="3000" b="1" i="0" noProof="0" dirty="0" err="1">
                <a:solidFill>
                  <a:srgbClr val="FFFFFF"/>
                </a:solidFill>
                <a:latin typeface="Calibri"/>
              </a:rPr>
              <a:t>Kamino</a:t>
            </a: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3000" b="1" i="0" noProof="0" dirty="0">
                <a:solidFill>
                  <a:srgbClr val="DFF25E"/>
                </a:solidFill>
                <a:latin typeface="Calibri"/>
              </a:rPr>
              <a:t>desde a semana 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10241280" cy="697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Entrega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end-to-end</a:t>
            </a: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, comprovada aqui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Este case foi conduzido como eu trabalho de verdade: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com dados de mercado, modelagem financeira antes de UI, protótipo funcional e plano de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rollout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— tudo em dias, não semanas.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10241280" cy="485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Julgamento em domínio financeiro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Fronteira de IA desenhada por risco, não por hype: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matching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é reversível, lançamento contábil </a:t>
            </a:r>
            <a:r>
              <a:rPr lang="pt-BR" sz="1250" b="0" i="0" noProof="0">
                <a:solidFill>
                  <a:srgbClr val="C9D8E8"/>
                </a:solidFill>
                <a:latin typeface="Calibri"/>
              </a:rPr>
              <a:t>não.</a:t>
            </a:r>
            <a:endParaRPr lang="pt-BR" sz="1250" b="0" i="0" noProof="0" dirty="0">
              <a:solidFill>
                <a:srgbClr val="C9D8E8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640080" y="4480559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10241280" cy="485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IA como multiplicador de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capacity</a:t>
            </a:r>
            <a:endParaRPr lang="pt-BR" sz="1600" b="1" i="0" noProof="0" dirty="0">
              <a:solidFill>
                <a:srgbClr val="DFF25E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Pesquisa, protótipo e este material foram construídos com IA sob critério — o mesmo método que aplico com o time: mais entregas com a mesma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squad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.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6007608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1350" b="1" i="0" noProof="0" dirty="0">
                <a:solidFill>
                  <a:srgbClr val="DFF25E"/>
                </a:solidFill>
                <a:latin typeface="Calibri"/>
              </a:rPr>
              <a:t>Estou pronto para começar: 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a primeira versão deste plano já está na mesa. </a:t>
            </a:r>
            <a:r>
              <a:rPr lang="pt-BR" sz="1350" b="1" i="0" noProof="0" dirty="0">
                <a:solidFill>
                  <a:srgbClr val="DFF25E"/>
                </a:solidFill>
                <a:latin typeface="Calibri"/>
              </a:rPr>
              <a:t>Vamos nessa?</a:t>
            </a:r>
            <a:r>
              <a:rPr lang="pt-BR" sz="1350" b="0" i="0" noProof="0" dirty="0">
                <a:solidFill>
                  <a:srgbClr val="DFF25E"/>
                </a:solidFill>
                <a:latin typeface="Calibri"/>
              </a:rPr>
              <a:t> 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pic>
        <p:nvPicPr>
          <p:cNvPr id="13" name="Picture 6" descr="KAMINO INSTITUICAO DE PAGAMENTO - Reclame Aqui">
            <a:extLst>
              <a:ext uri="{FF2B5EF4-FFF2-40B4-BE49-F238E27FC236}">
                <a16:creationId xmlns:a16="http://schemas.microsoft.com/office/drawing/2014/main" id="{2B296403-CA3C-6A95-D1F0-B4ACF6012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753600" y="18288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2893</Words>
  <Application>Microsoft Office PowerPoint</Application>
  <PresentationFormat>Widescreen</PresentationFormat>
  <Paragraphs>312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Bruce Bianchini Batista</cp:lastModifiedBy>
  <cp:revision>9</cp:revision>
  <dcterms:created xsi:type="dcterms:W3CDTF">2013-01-27T09:14:16Z</dcterms:created>
  <dcterms:modified xsi:type="dcterms:W3CDTF">2026-07-08T23:14:08Z</dcterms:modified>
  <cp:category/>
</cp:coreProperties>
</file>