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71" r:id="rId21"/>
    <p:sldId id="272" r:id="rId22"/>
    <p:sldId id="266" r:id="rId13"/>
    <p:sldId id="267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846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Abertura: o case não é sobre conciliar mais rápido, é sobre confiança no saldo. Os três círculos antecipam a tese da fronteira de IA: age, sugere,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60–90 segundos, no máximo. A banca quer contexto, não currículo: quem é, o que já entregou, como trabalha. Fechar conectando com o case: 'e foi assim que ataquei o desafio de vocês'.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Decisão de framing: o problema é confiança, não velocidade. Isso orienta tudo: evidência visível, incerteza explícita, reversibilidade.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insight: o caso 1:1 nunca foi o problema. O custo está nas exceções — exatamente o que o Apêndice A do case testa.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Honestidade intelectual: dados direcionais de mercado, sinalizados como tal. O ponto-chave do benchmark: autonomia no matching, decisão humana no fato financeiro.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Defesa da hipótese: porte da empresa implica um operador financeiro. Chat serve à dona; fila serve ao analista; mesma engine de conciliação por trás.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princípio é testável no protótipo: se a banca perguntar 'onde está o princípio 3?', mostro o desfazer e a trilha na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Esboço, não design final. A decisão defendida: chat comanda, mas o estado (saldos, fila) é persistente — responde às objeções de auditabilidade e revisão em massa.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que diferencia: os R$ 650 batem exatamente com ISS 5% + IRRF 1,5%. A IA explica o porquê da hipótese fiscal e pede confirmação — nunca lança imposto sozinha.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KPIs conectam a métrica de negócio (tempo, adoção) com a métrica de confiança (taxa de reversão). Meta declarada como hipótese: maturidade, não fraqueza.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Fechar com transparência: dizer o que não faremos e por quê é decisão de produto, não omissão. Convite à discussão da modelagem.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Fecho de 60s: três pilares, cada um ancorado em prova (o próprio case) + uma credencial pessoal. Não listar adjetivos — listar evidências. Terminar abrindo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1828800"/>
            <a:ext cx="8412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lang="pt-BR" sz="1300" b="1" i="0" noProof="0" dirty="0">
                <a:solidFill>
                  <a:srgbClr val="DFF25E"/>
                </a:solidFill>
                <a:latin typeface="Calibri"/>
              </a:rPr>
              <a:t>KAMINO · CASE PM SÊNIOR — PLATAFORMA FINANCEIRA CORE</a:t>
            </a:r>
          </a:p>
          <a:p>
            <a:pPr algn="l">
              <a:lnSpc>
                <a:spcPct val="102000"/>
              </a:lnSpc>
              <a:spcAft>
                <a:spcPts val="1400"/>
              </a:spcAft>
            </a:pPr>
            <a:r>
              <a:rPr lang="pt-BR" sz="4400" b="1" i="0" noProof="0" dirty="0">
                <a:solidFill>
                  <a:srgbClr val="FFFFFF"/>
                </a:solidFill>
                <a:latin typeface="Calibri"/>
              </a:rPr>
              <a:t>Conciliação que constrói
</a:t>
            </a:r>
            <a:r>
              <a:rPr lang="pt-BR" sz="4400" b="1" i="0" noProof="0" dirty="0">
                <a:solidFill>
                  <a:srgbClr val="DFF25E"/>
                </a:solidFill>
                <a:latin typeface="Calibri"/>
              </a:rPr>
              <a:t>confiança</a:t>
            </a:r>
          </a:p>
          <a:p>
            <a:pPr algn="l">
              <a:spcAft>
                <a:spcPts val="0"/>
              </a:spcAft>
            </a:pPr>
            <a:r>
              <a:rPr lang="pt-BR" sz="1800" b="0" i="0" noProof="0" dirty="0">
                <a:solidFill>
                  <a:srgbClr val="C9D8E8"/>
                </a:solidFill>
                <a:latin typeface="Calibri"/>
              </a:rPr>
              <a:t>Do </a:t>
            </a:r>
            <a:r>
              <a:rPr lang="pt-BR" sz="1800" b="0" i="0" noProof="0" dirty="0" err="1">
                <a:solidFill>
                  <a:srgbClr val="C9D8E8"/>
                </a:solidFill>
                <a:latin typeface="Calibri"/>
              </a:rPr>
              <a:t>discovery</a:t>
            </a:r>
            <a:r>
              <a:rPr lang="pt-BR" sz="1800" b="0" i="0" noProof="0" dirty="0">
                <a:solidFill>
                  <a:srgbClr val="C9D8E8"/>
                </a:solidFill>
                <a:latin typeface="Calibri"/>
              </a:rPr>
              <a:t> ao protótipo </a:t>
            </a:r>
            <a:r>
              <a:rPr lang="pt-BR" sz="1800" b="0" i="0" noProof="0" dirty="0" err="1">
                <a:solidFill>
                  <a:srgbClr val="C9D8E8"/>
                </a:solidFill>
                <a:latin typeface="Calibri"/>
              </a:rPr>
              <a:t>agêntico</a:t>
            </a:r>
            <a:r>
              <a:rPr lang="pt-BR" sz="1800" b="0" i="0" noProof="0" dirty="0">
                <a:solidFill>
                  <a:srgbClr val="C9D8E8"/>
                </a:solidFill>
                <a:latin typeface="Calibri"/>
              </a:rPr>
              <a:t>: tese de produto e plano de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Cliente-referência: Acme Serviços · Julho 2026 · Entregáveis: protótipo funcional + racional + apresentação</a:t>
            </a:r>
          </a:p>
        </p:txBody>
      </p:sp>
      <p:sp>
        <p:nvSpPr>
          <p:cNvPr id="6" name="Oval 5"/>
          <p:cNvSpPr/>
          <p:nvPr/>
        </p:nvSpPr>
        <p:spPr>
          <a:xfrm>
            <a:off x="9144000" y="2240280"/>
            <a:ext cx="1280160" cy="128016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3200" b="1" noProof="0" dirty="0">
                <a:solidFill>
                  <a:srgbClr val="0D2333"/>
                </a:solidFill>
                <a:latin typeface="Calibri"/>
              </a:rPr>
              <a:t>✓</a:t>
            </a:r>
          </a:p>
        </p:txBody>
      </p:sp>
      <p:sp>
        <p:nvSpPr>
          <p:cNvPr id="7" name="Oval 6"/>
          <p:cNvSpPr/>
          <p:nvPr/>
        </p:nvSpPr>
        <p:spPr>
          <a:xfrm>
            <a:off x="10287000" y="3337560"/>
            <a:ext cx="868680" cy="868680"/>
          </a:xfrm>
          <a:prstGeom prst="ellips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2200" b="1" noProof="0" dirty="0">
                <a:solidFill>
                  <a:srgbClr val="DFF25E"/>
                </a:solidFill>
                <a:latin typeface="Calibri"/>
              </a:rPr>
              <a:t>?</a:t>
            </a:r>
          </a:p>
        </p:txBody>
      </p:sp>
      <p:sp>
        <p:nvSpPr>
          <p:cNvPr id="8" name="Oval 7"/>
          <p:cNvSpPr/>
          <p:nvPr/>
        </p:nvSpPr>
        <p:spPr>
          <a:xfrm>
            <a:off x="9006840" y="3840480"/>
            <a:ext cx="685800" cy="685800"/>
          </a:xfrm>
          <a:prstGeom prst="ellips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700" b="1" noProof="0" dirty="0">
                <a:solidFill>
                  <a:srgbClr val="C9D8E8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4709159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200" b="0" i="1" noProof="0" dirty="0">
                <a:solidFill>
                  <a:srgbClr val="C9D8E8"/>
                </a:solidFill>
                <a:latin typeface="Calibri"/>
              </a:rPr>
              <a:t>age · sugere · escala</a:t>
            </a:r>
          </a:p>
        </p:txBody>
      </p:sp>
      <p:pic>
        <p:nvPicPr>
          <p:cNvPr id="8194" name="Picture 2" descr="KAMINO INSTITUICAO DE PAGAMENTO - Reclame Aqui">
            <a:extLst>
              <a:ext uri="{FF2B5EF4-FFF2-40B4-BE49-F238E27FC236}">
                <a16:creationId xmlns:a16="http://schemas.microsoft.com/office/drawing/2014/main" id="{B3C57DBD-68F4-5EAE-7C08-33BD95783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9160" y="-134874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APRESENTAÇÃO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Quem está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do outro lado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da mesa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6031152" cy="42062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2697480" y="1965960"/>
            <a:ext cx="3566160" cy="15124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2400" b="1" i="0" noProof="0" dirty="0">
                <a:solidFill>
                  <a:srgbClr val="FFFFFF"/>
                </a:solidFill>
                <a:latin typeface="Calibri"/>
              </a:rPr>
              <a:t>Bruce Bianchini</a:t>
            </a:r>
          </a:p>
          <a:p>
            <a:pPr algn="r">
              <a:spcAft>
                <a:spcPts val="1200"/>
              </a:spcAft>
            </a:pPr>
            <a:r>
              <a:rPr lang="pt-BR" sz="1400" b="1" i="0" noProof="0" dirty="0">
                <a:solidFill>
                  <a:srgbClr val="DFF25E"/>
                </a:solidFill>
                <a:latin typeface="Calibri"/>
              </a:rPr>
              <a:t>[</a:t>
            </a:r>
            <a:r>
              <a:rPr lang="pt-BR" sz="1400" b="1" i="0" noProof="0" dirty="0" err="1">
                <a:solidFill>
                  <a:srgbClr val="DFF25E"/>
                </a:solidFill>
                <a:latin typeface="Calibri"/>
              </a:rPr>
              <a:t>Product</a:t>
            </a:r>
            <a:r>
              <a:rPr lang="pt-BR" sz="1400" b="1" i="0" noProof="0" dirty="0">
                <a:solidFill>
                  <a:srgbClr val="DFF25E"/>
                </a:solidFill>
                <a:latin typeface="Calibri"/>
              </a:rPr>
              <a:t> Management]</a:t>
            </a:r>
          </a:p>
          <a:p>
            <a:pPr algn="r">
              <a:lnSpc>
                <a:spcPct val="115000"/>
              </a:lnSpc>
              <a:spcAft>
                <a:spcPts val="1200"/>
              </a:spcAft>
            </a:pPr>
            <a:r>
              <a:rPr lang="pt-BR" sz="1300" b="0" i="0" noProof="0" dirty="0">
                <a:solidFill>
                  <a:srgbClr val="C9D8E8"/>
                </a:solidFill>
                <a:latin typeface="Calibri"/>
              </a:rPr>
              <a:t>ERP | IA | FINANCE</a:t>
            </a:r>
          </a:p>
          <a:p>
            <a:pPr algn="r">
              <a:spcAft>
                <a:spcPts val="0"/>
              </a:spcAft>
            </a:pPr>
            <a:r>
              <a:rPr lang="pt-BR" sz="1100" noProof="0" dirty="0">
                <a:solidFill>
                  <a:srgbClr val="C9D8E8"/>
                </a:solidFill>
                <a:latin typeface="Calibri"/>
              </a:rPr>
              <a:t>Uberlândia/MG </a:t>
            </a:r>
          </a:p>
          <a:p>
            <a:pPr algn="r">
              <a:spcAft>
                <a:spcPts val="0"/>
              </a:spcAft>
            </a:pPr>
            <a:r>
              <a:rPr lang="pt-BR" sz="1100" noProof="0" dirty="0">
                <a:solidFill>
                  <a:srgbClr val="C9D8E8"/>
                </a:solidFill>
              </a:rPr>
              <a:t>https://www.linkedin.com/in/brucebianchini</a:t>
            </a:r>
            <a:endParaRPr lang="pt-BR" sz="1100" b="0" i="0" noProof="0" dirty="0">
              <a:solidFill>
                <a:srgbClr val="C9D8E8"/>
              </a:solidFill>
              <a:latin typeface="Calibri"/>
            </a:endParaRPr>
          </a:p>
        </p:txBody>
      </p:sp>
      <p:sp>
        <p:nvSpPr>
          <p:cNvPr id="5" name="Oval 4"/>
          <p:cNvSpPr/>
          <p:nvPr/>
        </p:nvSpPr>
        <p:spPr>
          <a:xfrm>
            <a:off x="6854112" y="1727625"/>
            <a:ext cx="27820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783080"/>
            <a:ext cx="4206240" cy="454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Trajetória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6 anos de produto; ERP, pagamentos, Fintech, B2B SaaS. </a:t>
            </a:r>
          </a:p>
        </p:txBody>
      </p:sp>
      <p:sp>
        <p:nvSpPr>
          <p:cNvPr id="7" name="Oval 6"/>
          <p:cNvSpPr/>
          <p:nvPr/>
        </p:nvSpPr>
        <p:spPr>
          <a:xfrm>
            <a:off x="6854112" y="3117512"/>
            <a:ext cx="27820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172968"/>
            <a:ext cx="4206240" cy="6623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Resultados que carrego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Redução do tempo de implantação de 9 meses para 45 dias.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50" noProof="0" dirty="0">
                <a:solidFill>
                  <a:srgbClr val="112A3D"/>
                </a:solidFill>
                <a:latin typeface="Calibri"/>
              </a:rPr>
              <a:t>5x mais conversão em vendas.</a:t>
            </a:r>
            <a:endParaRPr lang="pt-BR" sz="1250" b="0" i="0" noProof="0" dirty="0">
              <a:solidFill>
                <a:srgbClr val="112A3D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6854112" y="4507401"/>
            <a:ext cx="27820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4562856"/>
            <a:ext cx="4206240" cy="6623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Como eu trabalho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Decisões escritas e rastreáveis, colaboração próxima com engenharia, IA como método de trabalho</a:t>
            </a:r>
            <a:r>
              <a:rPr lang="pt-BR" sz="1250" noProof="0" dirty="0">
                <a:solidFill>
                  <a:srgbClr val="112A3D"/>
                </a:solidFill>
                <a:latin typeface="Calibri"/>
              </a:rPr>
              <a:t> (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este material é prova).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0DE5F45-249A-A1B2-A639-A0F211754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35052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D5C73824-C7D9-770E-3731-3B871B7E8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592" y="4043546"/>
            <a:ext cx="1386048" cy="138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O PROBLEMA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O pedido é simples.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O problema, não.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120640" cy="393192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4389120" cy="1919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1400"/>
              </a:spcAft>
            </a:pPr>
            <a:r>
              <a:rPr lang="pt-BR" sz="2000" b="1" i="1" noProof="0" dirty="0">
                <a:solidFill>
                  <a:srgbClr val="FFFFFF"/>
                </a:solidFill>
                <a:latin typeface="Calibri"/>
              </a:rPr>
              <a:t>“Quero abrir a plataforma e </a:t>
            </a:r>
            <a:r>
              <a:rPr lang="pt-BR" sz="2000" b="1" i="1" noProof="0" dirty="0">
                <a:solidFill>
                  <a:srgbClr val="DFF25E"/>
                </a:solidFill>
                <a:latin typeface="Calibri"/>
              </a:rPr>
              <a:t>confiar no meu saldo</a:t>
            </a:r>
            <a:r>
              <a:rPr lang="pt-BR" sz="2000" b="1" i="1" noProof="0" dirty="0">
                <a:solidFill>
                  <a:srgbClr val="FFFFFF"/>
                </a:solidFill>
                <a:latin typeface="Calibri"/>
              </a:rPr>
              <a:t>, sem passar horas conferindo.”</a:t>
            </a:r>
            <a:br>
              <a:rPr lang="pt-BR" sz="1300" b="1" i="0" noProof="0" dirty="0">
                <a:solidFill>
                  <a:srgbClr val="FFFFFF"/>
                </a:solidFill>
                <a:latin typeface="Calibri"/>
              </a:rPr>
            </a:br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Beatriz – sócia-proprietária da Acme Serviços</a:t>
            </a:r>
          </a:p>
          <a:p>
            <a:pPr>
              <a:lnSpc>
                <a:spcPct val="110000"/>
              </a:lnSpc>
            </a:pPr>
            <a:r>
              <a:rPr lang="pt-BR" sz="1200" noProof="0" dirty="0">
                <a:solidFill>
                  <a:srgbClr val="C9D8E8"/>
                </a:solidFill>
              </a:rPr>
              <a:t> · </a:t>
            </a: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Empresa de serviços</a:t>
            </a:r>
          </a:p>
          <a:p>
            <a:pPr>
              <a:lnSpc>
                <a:spcPct val="110000"/>
              </a:lnSpc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 · ~120 funcionários</a:t>
            </a:r>
          </a:p>
          <a:p>
            <a:pPr>
              <a:lnSpc>
                <a:spcPct val="110000"/>
              </a:lnSpc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 · mais de uma conta bancária </a:t>
            </a:r>
          </a:p>
          <a:p>
            <a:pPr>
              <a:lnSpc>
                <a:spcPct val="110000"/>
              </a:lnSpc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· fecha o caixa exportando extratos e batendo no Excel</a:t>
            </a:r>
          </a:p>
        </p:txBody>
      </p:sp>
      <p:sp>
        <p:nvSpPr>
          <p:cNvPr id="5" name="Oval 4"/>
          <p:cNvSpPr/>
          <p:nvPr/>
        </p:nvSpPr>
        <p:spPr>
          <a:xfrm>
            <a:off x="6126480" y="1746504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691640"/>
            <a:ext cx="4892040" cy="729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Dor aparente: </a:t>
            </a:r>
            <a:r>
              <a:rPr lang="pt-BR" sz="2000" b="1" i="0" noProof="0" dirty="0">
                <a:solidFill>
                  <a:srgbClr val="0D2333"/>
                </a:solidFill>
                <a:latin typeface="Calibri"/>
              </a:rPr>
              <a:t>tempo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Horas exportando extratos e batendo linha a linha na planilha, todo fechamento.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3099816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3044952"/>
            <a:ext cx="4892040" cy="729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Dor real: </a:t>
            </a:r>
            <a:r>
              <a:rPr lang="pt-BR" sz="2000" b="1" i="0" noProof="0" dirty="0">
                <a:solidFill>
                  <a:srgbClr val="0D2333"/>
                </a:solidFill>
                <a:latin typeface="Calibri"/>
              </a:rPr>
              <a:t>confiança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Ela só confia no saldo porque ela mesma conferiu. O Excel não é a ferramenta — é o mecanismo de confiança dela.</a:t>
            </a:r>
          </a:p>
        </p:txBody>
      </p:sp>
      <p:sp>
        <p:nvSpPr>
          <p:cNvPr id="9" name="Oval 8"/>
          <p:cNvSpPr/>
          <p:nvPr/>
        </p:nvSpPr>
        <p:spPr>
          <a:xfrm>
            <a:off x="6126480" y="4453128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4398264"/>
            <a:ext cx="4892040" cy="8542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Implicação de produto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Automação que </a:t>
            </a:r>
            <a:r>
              <a:rPr lang="pt-BR" sz="1250" b="1" i="0" noProof="0" dirty="0">
                <a:solidFill>
                  <a:srgbClr val="112A3D"/>
                </a:solidFill>
                <a:latin typeface="Calibri"/>
              </a:rPr>
              <a:t>esconde o trabalho </a:t>
            </a:r>
            <a:r>
              <a:rPr lang="pt-BR" sz="1250" b="0" i="0" u="sng" noProof="0" dirty="0">
                <a:solidFill>
                  <a:srgbClr val="112A3D"/>
                </a:solidFill>
                <a:latin typeface="Calibri"/>
              </a:rPr>
              <a:t>destrói a confiança em vez de transferi-la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. A plataforma deve tornar a conferência verificável em segundos.</a:t>
            </a:r>
          </a:p>
        </p:txBody>
      </p:sp>
      <p:pic>
        <p:nvPicPr>
          <p:cNvPr id="1026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711EE169-68C5-EC4C-3764-88F9D0BD2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A DOR NO FLUXO DE HOJE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Quatro passos que consomem o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fechamento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da Acme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2651760" cy="2834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Oval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Exportar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Baixa extratos de cada banco, em PDF ou Excel, conta a conta.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737360"/>
            <a:ext cx="2621280" cy="2834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Oval 6"/>
          <p:cNvSpPr/>
          <p:nvPr/>
        </p:nvSpPr>
        <p:spPr>
          <a:xfrm>
            <a:off x="3531157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1157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Bater na planilha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 err="1">
                <a:solidFill>
                  <a:srgbClr val="112A3D"/>
                </a:solidFill>
                <a:latin typeface="Calibri"/>
              </a:rPr>
              <a:t>Ctrl+F</a:t>
            </a: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, olho treinado e fórmulas quebradas: linha a linha contra os lançamentos.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0" y="1737360"/>
            <a:ext cx="2685386" cy="2834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Oval 9"/>
          <p:cNvSpPr/>
          <p:nvPr/>
        </p:nvSpPr>
        <p:spPr>
          <a:xfrm>
            <a:off x="6285074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5074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Tratar exceções no escuro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Lote, pagamento parcial, retenção de imposto e tarifa não têm apoio — viram investigação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8546" y="1737360"/>
            <a:ext cx="2724912" cy="2834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Oval 12"/>
          <p:cNvSpPr/>
          <p:nvPr/>
        </p:nvSpPr>
        <p:spPr>
          <a:xfrm>
            <a:off x="9147146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7146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Fechar sem confiar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O caixa “fecha”, mas ninguém confia no número. A conferência recomeça no mês seguinte.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91672" cy="105156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14400" y="5148072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400" b="1" i="0" noProof="0" dirty="0">
                <a:solidFill>
                  <a:srgbClr val="DFF25E"/>
                </a:solidFill>
                <a:latin typeface="Calibri"/>
              </a:rPr>
              <a:t>Custo real: </a:t>
            </a:r>
            <a:r>
              <a:rPr lang="pt-BR" sz="1400" b="0" i="0" noProof="0" dirty="0">
                <a:solidFill>
                  <a:srgbClr val="FFFFFF"/>
                </a:solidFill>
                <a:latin typeface="Calibri"/>
              </a:rPr>
              <a:t>horas de analista + decisões de caixa tomadas sobre um saldo incerto. A exceção — não o caso 1:1 — é onde o tempo e a confiança se perdem.</a:t>
            </a:r>
          </a:p>
        </p:txBody>
      </p:sp>
      <p:pic>
        <p:nvPicPr>
          <p:cNvPr id="17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80F673E2-B22B-23C1-565C-EC7386F65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CONTEXTO DE MERCADO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A dor é estrutural — e o mercado já apontou a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direção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724912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400" b="1" i="0" noProof="0" dirty="0">
                <a:solidFill>
                  <a:srgbClr val="DFF25E"/>
                </a:solidFill>
                <a:latin typeface="Calibri"/>
              </a:rPr>
              <a:t>8–12h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por semana gastas em conciliação manual por um profissional qualificado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0712" y="1645920"/>
            <a:ext cx="2724912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3639312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400" b="1" i="0" noProof="0" dirty="0">
                <a:solidFill>
                  <a:srgbClr val="DFF25E"/>
                </a:solidFill>
                <a:latin typeface="Calibri"/>
              </a:rPr>
              <a:t>9 de 10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150" b="0" i="0" noProof="0" dirty="0" err="1">
                <a:solidFill>
                  <a:srgbClr val="C9D8E8"/>
                </a:solidFill>
                <a:latin typeface="Calibri"/>
              </a:rPr>
              <a:t>PMEs</a:t>
            </a: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 brasileiras ainda conciliam com extrato + planilha auxiliar, na mão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3" y="1645920"/>
            <a:ext cx="2651760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501383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400" b="1" i="0" noProof="0" dirty="0">
                <a:solidFill>
                  <a:srgbClr val="DFF25E"/>
                </a:solidFill>
                <a:latin typeface="Calibri"/>
              </a:rPr>
              <a:t>48%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das </a:t>
            </a:r>
            <a:r>
              <a:rPr lang="pt-BR" sz="1150" b="0" i="0" noProof="0" dirty="0" err="1">
                <a:solidFill>
                  <a:srgbClr val="C9D8E8"/>
                </a:solidFill>
                <a:latin typeface="Calibri"/>
              </a:rPr>
              <a:t>MPEs</a:t>
            </a: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 que fecham citam falta de planejamento financeiro e controle de caixa (Sebrae)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1703" y="1645920"/>
            <a:ext cx="2551178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9363455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400" b="1" i="0" noProof="0" dirty="0">
                <a:solidFill>
                  <a:srgbClr val="DFF25E"/>
                </a:solidFill>
                <a:latin typeface="Calibri"/>
              </a:rPr>
              <a:t>60%+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das tarefas de fechamento já são automatizáveis com agentes (benchmark </a:t>
            </a:r>
            <a:r>
              <a:rPr lang="pt-BR" sz="1150" b="0" i="0" noProof="0" dirty="0" err="1">
                <a:solidFill>
                  <a:srgbClr val="C9D8E8"/>
                </a:solidFill>
                <a:latin typeface="Calibri"/>
              </a:rPr>
              <a:t>HighRadius</a:t>
            </a: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69080"/>
            <a:ext cx="11091672" cy="169164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4315968"/>
            <a:ext cx="104241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O benchmark global (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BlackLine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,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HighRadius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,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Ramp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):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auto-match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 com score de confiança e trilha de auditoria — o humano decide no lançamento, não no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matching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.</a:t>
            </a:r>
          </a:p>
          <a:p>
            <a:pPr algn="l">
              <a:spcAft>
                <a:spcPts val="0"/>
              </a:spcAft>
            </a:pP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É a fronteira que a </a:t>
            </a:r>
            <a:r>
              <a:rPr lang="pt-BR" sz="1350" b="0" i="0" noProof="0" dirty="0" err="1">
                <a:solidFill>
                  <a:srgbClr val="112A3D"/>
                </a:solidFill>
                <a:latin typeface="Calibri"/>
              </a:rPr>
              <a:t>Kamino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 pode levar ao médio mercado brasileiro — com a vantagem única do banco integrado à plataforma.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1000" b="0" i="1" noProof="0" dirty="0">
                <a:solidFill>
                  <a:srgbClr val="5E7182"/>
                </a:solidFill>
                <a:latin typeface="Calibri"/>
              </a:rPr>
              <a:t>Fontes: </a:t>
            </a:r>
            <a:r>
              <a:rPr lang="pt-BR" sz="1000" b="0" i="1" noProof="0" dirty="0" err="1">
                <a:solidFill>
                  <a:srgbClr val="5E7182"/>
                </a:solidFill>
                <a:latin typeface="Calibri"/>
              </a:rPr>
              <a:t>BFinance</a:t>
            </a:r>
            <a:r>
              <a:rPr lang="pt-BR" sz="1000" b="0" i="1" noProof="0" dirty="0">
                <a:solidFill>
                  <a:srgbClr val="5E7182"/>
                </a:solidFill>
                <a:latin typeface="Calibri"/>
              </a:rPr>
              <a:t> (2025), Sebrae, </a:t>
            </a:r>
            <a:r>
              <a:rPr lang="pt-BR" sz="1000" b="0" i="1" noProof="0" dirty="0" err="1">
                <a:solidFill>
                  <a:srgbClr val="5E7182"/>
                </a:solidFill>
                <a:latin typeface="Calibri"/>
              </a:rPr>
              <a:t>HighRadius</a:t>
            </a:r>
            <a:r>
              <a:rPr lang="pt-BR" sz="1000" b="0" i="1" noProof="0" dirty="0">
                <a:solidFill>
                  <a:srgbClr val="5E7182"/>
                </a:solidFill>
                <a:latin typeface="Calibri"/>
              </a:rPr>
              <a:t>. Números de mercado usados como referência direcional, não como medição própria.</a:t>
            </a:r>
          </a:p>
        </p:txBody>
      </p:sp>
      <p:pic>
        <p:nvPicPr>
          <p:cNvPr id="14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ABCED621-1933-4199-609C-2DD7026D3B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PERSONAS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Duas personas, dois modos —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uma mesma </a:t>
            </a:r>
            <a:r>
              <a:rPr lang="pt-BR" sz="3000" b="1" i="0" noProof="0" dirty="0" err="1">
                <a:solidFill>
                  <a:srgbClr val="0D2333"/>
                </a:solidFill>
                <a:latin typeface="Calibri"/>
              </a:rPr>
              <a:t>engine</a:t>
            </a:r>
            <a:endParaRPr lang="pt-BR" sz="3000" b="1" i="0" noProof="0" dirty="0">
              <a:solidFill>
                <a:srgbClr val="0D2333"/>
              </a:solidFill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422392" cy="365760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4800600" cy="2146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5E7182"/>
                </a:solidFill>
                <a:latin typeface="Calibri"/>
              </a:rPr>
              <a:t>A DONA (Beatriz, </a:t>
            </a:r>
            <a:r>
              <a:rPr lang="pt-BR" sz="1500" b="1" i="0" noProof="0" dirty="0" err="1">
                <a:solidFill>
                  <a:srgbClr val="5E7182"/>
                </a:solidFill>
                <a:latin typeface="Calibri"/>
              </a:rPr>
              <a:t>decisora</a:t>
            </a:r>
            <a:r>
              <a:rPr lang="pt-BR" sz="1500" b="1" i="0" noProof="0" dirty="0">
                <a:solidFill>
                  <a:srgbClr val="5E7182"/>
                </a:solidFill>
                <a:latin typeface="Calibri"/>
              </a:rPr>
              <a:t>)</a:t>
            </a:r>
          </a:p>
          <a:p>
            <a:pPr algn="l">
              <a:spcAft>
                <a:spcPts val="1200"/>
              </a:spcAft>
            </a:pPr>
            <a:r>
              <a:rPr lang="pt-BR" sz="1600" b="1" i="1" noProof="0" dirty="0">
                <a:solidFill>
                  <a:srgbClr val="0D2333"/>
                </a:solidFill>
                <a:latin typeface="Calibri"/>
              </a:rPr>
              <a:t>“Abrir e confiar no saldo em 30 segundos.”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Modo dominante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Briefing do agente + chat: pergunta em linguagem natural, delega, cobra explicação.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Momentos de uso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Início do dia e fechamento do mês; aprova exceções de valor alto.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O que a convence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Evidência a 1 clique e pendências explicadas — não um número seco.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422392" cy="365760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537959" y="1874519"/>
            <a:ext cx="4800600" cy="2146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5E7182"/>
                </a:solidFill>
                <a:latin typeface="Calibri"/>
              </a:rPr>
              <a:t>O ANALISTA FINANCEIRO (Fernando, operador)</a:t>
            </a:r>
          </a:p>
          <a:p>
            <a:pPr algn="l">
              <a:spcAft>
                <a:spcPts val="1200"/>
              </a:spcAft>
            </a:pPr>
            <a:r>
              <a:rPr lang="pt-BR" sz="1600" b="1" i="1" noProof="0" dirty="0">
                <a:solidFill>
                  <a:srgbClr val="0D2333"/>
                </a:solidFill>
                <a:latin typeface="Calibri"/>
              </a:rPr>
              <a:t>“Zerar a fila de pendências do dia.”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Modo dominante — </a:t>
            </a:r>
            <a:r>
              <a:rPr lang="pt-BR" sz="1250" b="0" i="0" noProof="0" dirty="0" err="1">
                <a:solidFill>
                  <a:srgbClr val="112A3D"/>
                </a:solidFill>
                <a:latin typeface="Calibri"/>
              </a:rPr>
              <a:t>Workspace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 com fila e ações em massa; chat para destravar casos ambíguos.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Momentos de uso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Rotina diária de conciliação; prepara o fechamento para a dona.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O que o convence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Produtividade: revisar em paralelo, agir em lote, desfazer sem medo.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pt-BR" sz="1250" b="1" i="0" noProof="0" dirty="0">
                <a:solidFill>
                  <a:srgbClr val="5E7182"/>
                </a:solidFill>
                <a:latin typeface="Calibri"/>
              </a:rPr>
              <a:t>Hipótese assumida (sinalizada no material): </a:t>
            </a:r>
            <a:r>
              <a:rPr lang="pt-BR" sz="1250" b="0" i="0" noProof="0" dirty="0">
                <a:solidFill>
                  <a:srgbClr val="5E7182"/>
                </a:solidFill>
                <a:latin typeface="Calibri"/>
              </a:rPr>
              <a:t>com 120 funcionários, a dona não concilia linha a linha — existe um financeiro operando. A experiência precisa servir aos dois sem duplicar produto.</a:t>
            </a:r>
          </a:p>
        </p:txBody>
      </p:sp>
      <p:pic>
        <p:nvPicPr>
          <p:cNvPr id="8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CDE56242-2EF3-331C-A42A-CB724AF4C1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PRINCÍPIOS DE PRODUTO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Cinco princípios — cada um vira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decisão visível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no protótipo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Confiança se mostra, não se pede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Toda conciliação automática exibe a evidência (valor, data, contraparte) a 1 clique.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0604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78608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Incerteza é informação, não falha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O agente diz “85% de confiança, porque X e Y”. Nunca finge certeza.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538728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511296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Nada é irreversível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Toda ação tem desfazer e trilha de auditoria: quem, quando, com que evidência.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71416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443984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IA não cria fato financeiro sozinha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Conciliar 1:1 exato, sim. Criar lançamento (tarifa, imposto), só com confirmação humana.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404104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376672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O saldo confiável é o produto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A métrica-mãe da tela: % do extrato explicado e o que falta para 100%.</a:t>
            </a:r>
          </a:p>
        </p:txBody>
      </p:sp>
      <p:pic>
        <p:nvPicPr>
          <p:cNvPr id="13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3D6E265B-85CA-07E2-6AA7-28E4001C47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44"/>
          <a:stretch>
            <a:fillRect/>
          </a:stretch>
        </p:blipFill>
        <p:spPr bwMode="auto">
          <a:xfrm>
            <a:off x="9792928" y="5634621"/>
            <a:ext cx="2399071" cy="122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O CONCEITO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Fechamento assistido por agente: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chat protagonista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, UI de apoio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50" b="1" i="0" noProof="0" dirty="0">
                <a:solidFill>
                  <a:srgbClr val="0D2333"/>
                </a:solidFill>
                <a:latin typeface="Calibri"/>
              </a:rPr>
              <a:t>Intenção em linguagem natural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“Mostra o lote”, “por que é retenção?”, “concilia o que for ≥ 90%”. O chat captura a intenção — sem caçar menu.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61488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50" b="1" i="0" noProof="0" dirty="0">
                <a:solidFill>
                  <a:srgbClr val="0D2333"/>
                </a:solidFill>
                <a:latin typeface="Calibri"/>
              </a:rPr>
              <a:t>Respostas em UI generativa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Cards de sugestão, tabelas de lote e botões de ação renderizados na conversa — não texto corrido.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77056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50" b="1" i="0" noProof="0" dirty="0">
                <a:solidFill>
                  <a:srgbClr val="0D2333"/>
                </a:solidFill>
                <a:latin typeface="Calibri"/>
              </a:rPr>
              <a:t>Estado persistente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4 saldos sempre visíveis: banco, interno, conciliado e pendências. Confiança não mora em bolha de chat.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92624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50" b="1" i="0" noProof="0" dirty="0">
                <a:solidFill>
                  <a:srgbClr val="0D2333"/>
                </a:solidFill>
                <a:latin typeface="Calibri"/>
              </a:rPr>
              <a:t>Auditável e reversível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Texto, voz ou clique — toda ação vira evento estruturado com autor, evidência e desfazer.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00200"/>
            <a:ext cx="4937760" cy="4480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D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6858000" y="1783080"/>
            <a:ext cx="4572000" cy="566928"/>
          </a:xfrm>
          <a:prstGeom prst="roundRect">
            <a:avLst>
              <a:gd name="adj" fmla="val 15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6967728" y="1883664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050" b="1" i="0" noProof="0" dirty="0">
                <a:solidFill>
                  <a:srgbClr val="DFF25E"/>
                </a:solidFill>
                <a:latin typeface="Calibri"/>
              </a:rPr>
              <a:t>Banco 12.305  ·  Interno 11.700  ·  Conciliado 92%  ·  Pendências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514600"/>
            <a:ext cx="2331720" cy="338328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6995160" y="2697480"/>
            <a:ext cx="1920240" cy="77724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7086600" y="2770632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Conciliei 2 de 7 automaticamente. Tenho 4 sugestões.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611880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452360" y="370332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mostra o lote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206240"/>
            <a:ext cx="1920240" cy="105156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086600" y="4279392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LOTE 3382 · R$ 4.500 = 3 títulos Beta  [Conciliar] [Detalhar]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4406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900" b="0" i="1" noProof="0" dirty="0">
                <a:solidFill>
                  <a:srgbClr val="5E7182"/>
                </a:solidFill>
                <a:latin typeface="Calibri"/>
              </a:rPr>
              <a:t>chat + cards de 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514600"/>
            <a:ext cx="2103120" cy="338328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9464040" y="2651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950" b="1" i="0" noProof="0" dirty="0">
                <a:solidFill>
                  <a:srgbClr val="0D2333"/>
                </a:solidFill>
                <a:latin typeface="Calibri"/>
              </a:rPr>
              <a:t>PENDÊNCIAS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297180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9555480" y="306324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Retenção Gama · sugerido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3648456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9555480" y="3739896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Parcial Delta · sugerido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4325112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9555480" y="4416552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Tarifa R$ 45 · criar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5001768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9555480" y="509320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CR Sigma · sem mov.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70585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900" b="0" i="1" noProof="0" dirty="0">
                <a:solidFill>
                  <a:srgbClr val="5E7182"/>
                </a:solidFill>
                <a:latin typeface="Calibri"/>
              </a:rPr>
              <a:t>fila do analista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OS DADOS DO CASE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O Apêndice A já conta a história —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7 situações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, 3 níveis de autonomia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030360"/>
              </p:ext>
            </p:extLst>
          </p:nvPr>
        </p:nvGraphicFramePr>
        <p:xfrm>
          <a:off x="548640" y="1554480"/>
          <a:ext cx="1109167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Extrato (</a:t>
                      </a:r>
                      <a:r>
                        <a:rPr lang="pt-BR" sz="1050" b="1" noProof="0" dirty="0" err="1">
                          <a:solidFill>
                            <a:srgbClr val="DFF25E"/>
                          </a:solidFill>
                          <a:latin typeface="Calibri"/>
                        </a:rPr>
                        <a:t>jun</a:t>
                      </a:r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Correspondência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Situação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Ação do agente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05/06 · −3.200 · ALFA TEC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CP-001 (3.200)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1:1 exato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Concilia sozinho, com evidência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09/06 · +4.200 · OMEGA VAREJO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CR-002 (4.200)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1:1 exato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Concilia sozinho, com evidência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08/06 · +6.000 · JOAO P DA SILVA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CR-001 · Consultoria Silva ME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Divergência de nome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Sugere: </a:t>
                      </a:r>
                      <a:r>
                        <a:rPr lang="pt-BR" sz="1050" noProof="0" dirty="0" err="1">
                          <a:solidFill>
                            <a:srgbClr val="112A3D"/>
                          </a:solidFill>
                          <a:latin typeface="Calibri"/>
                        </a:rPr>
                        <a:t>valor+data</a:t>
                      </a:r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 batem; nome ≈ sócio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10/06 · −4.500 · LOTE 3382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CP-002+003+004 (3 × 1.500)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Pagamento em lote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 agrupamento: soma exata, mesma contraparte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12/06 · −9.350 · GAMA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CP-005 (10.000)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Retenção de imposto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Sugere: 650 = ISS 5% + IRRF 1,5% — confirma antes de lançar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15/06 · −5.000 · DELTA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CP-006 (8.000)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Pagamento parcial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 baixa parcial; mantém 3.000 em aberto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14/06 · −45 · TARIFA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— (sem lançamento)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Tarifa bancária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Propõe criar despesa; humano confirma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5349240"/>
            <a:ext cx="11091672" cy="114300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553212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350" b="1" i="0" noProof="0" dirty="0">
                <a:solidFill>
                  <a:srgbClr val="DFF25E"/>
                </a:solidFill>
                <a:latin typeface="Calibri"/>
              </a:rPr>
              <a:t>O 7º caso está escondido: </a:t>
            </a:r>
            <a:r>
              <a:rPr lang="pt-BR" sz="1350" b="0" i="0" noProof="0" dirty="0">
                <a:solidFill>
                  <a:srgbClr val="FFFFFF"/>
                </a:solidFill>
                <a:latin typeface="Calibri"/>
              </a:rPr>
              <a:t>CR-003 (Sigma, R$ 2.500, venc. 20/06) não tem linha no extrato. Não é erro de </a:t>
            </a:r>
            <a:r>
              <a:rPr lang="pt-BR" sz="1350" b="0" i="0" noProof="0" dirty="0" err="1">
                <a:solidFill>
                  <a:srgbClr val="FFFFFF"/>
                </a:solidFill>
                <a:latin typeface="Calibri"/>
              </a:rPr>
              <a:t>matching</a:t>
            </a:r>
            <a:r>
              <a:rPr lang="pt-BR" sz="1350" b="0" i="0" noProof="0" dirty="0">
                <a:solidFill>
                  <a:srgbClr val="FFFFFF"/>
                </a:solidFill>
                <a:latin typeface="Calibri"/>
              </a:rPr>
              <a:t> — é recebimento em atraso, e o agente o destaca porque afeta o saldo previsto.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DO CASE AO PRODUTO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Faseamento de entrega e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KPIs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de sucesso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792224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MVP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112A3D"/>
                </a:solidFill>
                <a:latin typeface="Calibri"/>
              </a:rPr>
              <a:t>Conciliação de 1 conta: </a:t>
            </a:r>
            <a:r>
              <a:rPr lang="pt-BR" sz="1150" b="0" i="0" noProof="0" dirty="0" err="1">
                <a:solidFill>
                  <a:srgbClr val="112A3D"/>
                </a:solidFill>
                <a:latin typeface="Calibri"/>
              </a:rPr>
              <a:t>matching</a:t>
            </a:r>
            <a:r>
              <a:rPr lang="pt-BR" sz="1150" b="0" i="0" noProof="0" dirty="0">
                <a:solidFill>
                  <a:srgbClr val="112A3D"/>
                </a:solidFill>
                <a:latin typeface="Calibri"/>
              </a:rPr>
              <a:t> automático 1:1, sugestões explicadas para os 5 tipos de exceção, trilha de auditoria e desfazer.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72384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3218688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BETA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112A3D"/>
                </a:solidFill>
                <a:latin typeface="Calibri"/>
              </a:rPr>
              <a:t>5–10 clientes com perfil Acme, 2 ciclos de fechamento completos, CS acompanhando; critérios de saída definidos antes de entrar.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98848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4645152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GA / EVOLUÇÃO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150" b="0" i="0" noProof="0" dirty="0" err="1">
                <a:solidFill>
                  <a:srgbClr val="112A3D"/>
                </a:solidFill>
                <a:latin typeface="Calibri"/>
              </a:rPr>
              <a:t>Multi-conta</a:t>
            </a:r>
            <a:r>
              <a:rPr lang="pt-BR" sz="1150" b="0" i="0" noProof="0" dirty="0">
                <a:solidFill>
                  <a:srgbClr val="112A3D"/>
                </a:solidFill>
                <a:latin typeface="Calibri"/>
              </a:rPr>
              <a:t>, ações em massa via chat, regras aprendidas (ex.: tarifa recorrente), importação automática via banco integrado.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142098"/>
              </p:ext>
            </p:extLst>
          </p:nvPr>
        </p:nvGraphicFramePr>
        <p:xfrm>
          <a:off x="6400800" y="1645920"/>
          <a:ext cx="52395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73152" marR="54864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Meta (beta)</a:t>
                      </a:r>
                    </a:p>
                  </a:txBody>
                  <a:tcPr marL="73152" marR="54864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% de linhas do extrato conciliadas sem toque humano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≥ 60%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Tempo de fechamento mensal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de horas p/ &lt; 30 min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% de sugestões aceitas sem edição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≥ 80%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Taxa de reversão de conciliações (proxy de confiança)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&lt; 2%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% do extrato explicado (métrica-mãe do usuário)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100% ao fechar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943600"/>
            <a:ext cx="1106424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150" b="0" i="1" noProof="0" dirty="0">
                <a:solidFill>
                  <a:srgbClr val="5E7182"/>
                </a:solidFill>
                <a:latin typeface="Calibri"/>
              </a:rPr>
              <a:t>Metas são hipóteses de partida </a:t>
            </a:r>
            <a:r>
              <a:rPr lang="pt-BR" sz="1150" i="1" noProof="0" dirty="0">
                <a:solidFill>
                  <a:srgbClr val="5E7182"/>
                </a:solidFill>
              </a:rPr>
              <a:t>— calibradas no piloto com engenharia e CS, não prometidas antes de medir. São elas que autorizam cada coorte do </a:t>
            </a:r>
            <a:r>
              <a:rPr lang="pt-BR" sz="1150" i="1" noProof="0" dirty="0" err="1">
                <a:solidFill>
                  <a:srgbClr val="5E7182"/>
                </a:solidFill>
              </a:rPr>
              <a:t>rollout</a:t>
            </a:r>
            <a:r>
              <a:rPr lang="pt-BR" sz="1150" i="1" noProof="0" dirty="0">
                <a:solidFill>
                  <a:srgbClr val="5E7182"/>
                </a:solidFill>
              </a:rPr>
              <a:t>.</a:t>
            </a:r>
            <a:endParaRPr lang="pt-BR" sz="1150" b="0" i="1" noProof="0" dirty="0">
              <a:solidFill>
                <a:srgbClr val="5E7182"/>
              </a:solidFill>
              <a:latin typeface="Calibri"/>
            </a:endParaRPr>
          </a:p>
        </p:txBody>
      </p:sp>
      <p:pic>
        <p:nvPicPr>
          <p:cNvPr id="11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3D1B5794-AE2C-FB01-3AF8-251FAD591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DFF25E"/>
                </a:solidFill>
                <a:latin typeface="Calibri"/>
              </a:rPr>
              <a:t>TRANSPARÊNCIA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FFFFFF"/>
                </a:solidFill>
                <a:latin typeface="Calibri"/>
              </a:rPr>
              <a:t>Riscos assumidos — e o que fica </a:t>
            </a:r>
            <a:r>
              <a:rPr lang="pt-BR" sz="3000" b="1" i="0" noProof="0" dirty="0">
                <a:solidFill>
                  <a:srgbClr val="DFF25E"/>
                </a:solidFill>
                <a:latin typeface="Calibri"/>
              </a:rPr>
              <a:t>de fora</a:t>
            </a:r>
            <a:r>
              <a:rPr lang="pt-BR" sz="3000" b="1" i="0" noProof="0" dirty="0">
                <a:solidFill>
                  <a:srgbClr val="FFFFFF"/>
                </a:solidFill>
                <a:latin typeface="Calibri"/>
              </a:rPr>
              <a:t> da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1300" b="1" i="0" noProof="0" dirty="0">
                <a:solidFill>
                  <a:srgbClr val="DFF25E"/>
                </a:solidFill>
                <a:latin typeface="Calibri"/>
              </a:rPr>
              <a:t>RISCOS E MITIGAÇÕES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Chat serializa a revisão em massa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Mitigado por design: híbrido com fila persistente e ações em lote — o chat comanda, não aprisiona.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165" y="3355848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Score de confiança errado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Reversibilidade total + lote auditável + taxa de reversão como KPI vigiado.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54296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Expectativa de “IA mágica”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Incerteza explícita na interface; o agente mostra evidências, não veredictos.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1300" b="1" i="0" noProof="0" dirty="0">
                <a:solidFill>
                  <a:srgbClr val="DFF25E"/>
                </a:solidFill>
                <a:latin typeface="Calibri"/>
              </a:rPr>
              <a:t>FORA DA V1 — DE PROPÓSITO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Regras aprendidas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Automatizar tarifa recorrente só depois de confirmação repetida do usuário.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355848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Voz e importação OFX real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Mostradas como visão; não gastam o time-box.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654296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00" b="1" i="0" noProof="0" dirty="0" err="1">
                <a:solidFill>
                  <a:srgbClr val="FFFFFF"/>
                </a:solidFill>
                <a:latin typeface="Calibri"/>
              </a:rPr>
              <a:t>Multi-conta</a:t>
            </a:r>
            <a:r>
              <a:rPr lang="pt-BR" sz="1400" b="1" i="0" noProof="0" dirty="0">
                <a:solidFill>
                  <a:srgbClr val="FFFFFF"/>
                </a:solidFill>
                <a:latin typeface="Calibri"/>
              </a:rPr>
              <a:t> e </a:t>
            </a:r>
            <a:r>
              <a:rPr lang="pt-BR" sz="1400" b="1" i="0" noProof="0" dirty="0" err="1">
                <a:solidFill>
                  <a:srgbClr val="FFFFFF"/>
                </a:solidFill>
                <a:latin typeface="Calibri"/>
              </a:rPr>
              <a:t>multi-moeda</a:t>
            </a:r>
            <a:endParaRPr lang="pt-BR" sz="1400" b="1" i="0" noProof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MVP prova valor em 1 conta antes de escalar complexidade.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897880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914400" y="6053328"/>
            <a:ext cx="1042416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BR" sz="1350" b="1" noProof="0" dirty="0">
                <a:solidFill>
                  <a:srgbClr val="DFF25E"/>
                </a:solidFill>
              </a:rPr>
              <a:t>Tudo isso está funcionando na demo → </a:t>
            </a:r>
            <a:r>
              <a:rPr lang="pt-BR" sz="1350" noProof="0" dirty="0">
                <a:solidFill>
                  <a:srgbClr val="FFFFFF"/>
                </a:solidFill>
              </a:rPr>
              <a:t>protótipo navegável com os dados do case, </a:t>
            </a:r>
            <a:r>
              <a:rPr lang="pt-BR" sz="1350" noProof="0" dirty="0" err="1">
                <a:solidFill>
                  <a:srgbClr val="FFFFFF"/>
                </a:solidFill>
              </a:rPr>
              <a:t>reinicializável</a:t>
            </a:r>
            <a:r>
              <a:rPr lang="pt-BR" sz="1350" noProof="0" dirty="0">
                <a:solidFill>
                  <a:srgbClr val="FFFFFF"/>
                </a:solidFill>
              </a:rPr>
              <a:t> ao vivo.</a:t>
            </a:r>
          </a:p>
        </p:txBody>
      </p:sp>
      <p:pic>
        <p:nvPicPr>
          <p:cNvPr id="2054" name="Picture 6" descr="KAMINO INSTITUICAO DE PAGAMENTO - Reclame Aqui">
            <a:extLst>
              <a:ext uri="{FF2B5EF4-FFF2-40B4-BE49-F238E27FC236}">
                <a16:creationId xmlns:a16="http://schemas.microsoft.com/office/drawing/2014/main" id="{17199A5F-B856-923A-E34A-0E1360A7AC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" t="35600" r="4600" b="35840"/>
          <a:stretch>
            <a:fillRect/>
          </a:stretch>
        </p:blipFill>
        <p:spPr bwMode="auto">
          <a:xfrm>
            <a:off x="9753600" y="182880"/>
            <a:ext cx="2270760" cy="72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9509760" y="4937760"/>
            <a:ext cx="2194560" cy="1554480"/>
          </a:xfrm>
          <a:prstGeom prst="triangl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Isosceles Triangle 2"/>
          <p:cNvSpPr/>
          <p:nvPr/>
        </p:nvSpPr>
        <p:spPr>
          <a:xfrm>
            <a:off x="10881360" y="4480560"/>
            <a:ext cx="2743200" cy="2011680"/>
          </a:xfrm>
          <a:prstGeom prst="triangl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DFF25E"/>
                </a:solidFill>
                <a:latin typeface="Calibri"/>
              </a:rPr>
              <a:t>POR QUE EU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FFFFFF"/>
                </a:solidFill>
                <a:latin typeface="Calibri"/>
              </a:rPr>
              <a:t>O que eu entrego para a </a:t>
            </a:r>
            <a:r>
              <a:rPr lang="pt-BR" sz="3000" b="1" i="0" noProof="0" dirty="0" err="1">
                <a:solidFill>
                  <a:srgbClr val="FFFFFF"/>
                </a:solidFill>
                <a:latin typeface="Calibri"/>
              </a:rPr>
              <a:t>Kamino</a:t>
            </a:r>
            <a:r>
              <a:rPr lang="pt-BR" sz="3000" b="1" i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pt-BR" sz="3000" b="1" i="0" noProof="0" dirty="0">
                <a:solidFill>
                  <a:srgbClr val="DFF25E"/>
                </a:solidFill>
                <a:latin typeface="Calibri"/>
              </a:rPr>
              <a:t>desde a semana 1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102412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Entrega </a:t>
            </a:r>
            <a:r>
              <a:rPr lang="pt-BR" sz="1600" b="1" i="0" noProof="0" dirty="0" err="1">
                <a:solidFill>
                  <a:srgbClr val="DFF25E"/>
                </a:solidFill>
                <a:latin typeface="Calibri"/>
              </a:rPr>
              <a:t>end-to-end</a:t>
            </a: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, comprovada aqui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Este case foi conduzido como eu trabalho de verdade: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discovery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 com dados de mercado, modelagem financeira antes de UI, protótipo funcional e plano de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rollout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 — tudo em dias, não semanas. [Reforce com 1 entrega real sua de ponta a ponta.]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63240"/>
            <a:ext cx="102412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Julgamento em domínio financeiro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Fronteira de IA desenhada por risco, não por hype: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matching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 é reversível, lançamento contábil não. [Cite sua experiência em fintech/ERP/financeiro que sustenta esse julgamento.]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80559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434840"/>
            <a:ext cx="102412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IA como multiplicador de </a:t>
            </a:r>
            <a:r>
              <a:rPr lang="pt-BR" sz="1600" b="1" i="0" noProof="0" dirty="0" err="1">
                <a:solidFill>
                  <a:srgbClr val="DFF25E"/>
                </a:solidFill>
                <a:latin typeface="Calibri"/>
              </a:rPr>
              <a:t>capacity</a:t>
            </a:r>
            <a:endParaRPr lang="pt-BR" sz="1600" b="1" i="0" noProof="0" dirty="0">
              <a:solidFill>
                <a:srgbClr val="DFF25E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Pesquisa, protótipo e este material foram construídos com IA sob critério — o mesmo método que aplico com o time: mais entregas com a mesma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squad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. [Ex. concreto seu de produtividade com IA.]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52160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6007608"/>
            <a:ext cx="1042416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1350" b="1" i="0" noProof="0" dirty="0">
                <a:solidFill>
                  <a:srgbClr val="DFF25E"/>
                </a:solidFill>
                <a:latin typeface="Calibri"/>
              </a:rPr>
              <a:t>Pronto para começar: </a:t>
            </a:r>
            <a:r>
              <a:rPr lang="pt-BR" sz="1350" b="0" i="0" noProof="0" dirty="0">
                <a:solidFill>
                  <a:srgbClr val="FFFFFF"/>
                </a:solidFill>
                <a:latin typeface="Calibri"/>
              </a:rPr>
              <a:t>a primeira versão deste plano já está na mesa. Vamos nessa? Obrigado.</a:t>
            </a:r>
          </a:p>
        </p:txBody>
      </p:sp>
      <p:pic>
        <p:nvPicPr>
          <p:cNvPr id="13" name="Picture 6" descr="KAMINO INSTITUICAO DE PAGAMENTO - Reclame Aqui">
            <a:extLst>
              <a:ext uri="{FF2B5EF4-FFF2-40B4-BE49-F238E27FC236}">
                <a16:creationId xmlns:a16="http://schemas.microsoft.com/office/drawing/2014/main" id="{2B296403-CA3C-6A95-D1F0-B4ACF60127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" t="35600" r="4600" b="35840"/>
          <a:stretch>
            <a:fillRect/>
          </a:stretch>
        </p:blipFill>
        <p:spPr bwMode="auto">
          <a:xfrm>
            <a:off x="9753600" y="182880"/>
            <a:ext cx="2270760" cy="72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2928" y="-1"/>
            <a:ext cx="2399071" cy="10558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9052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USO DE IA COM JULGAMENTO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Autonomia proporcional ao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risco financeiro</a:t>
            </a:r>
            <a:r>
              <a:rPr sz="3000" b="1" i="0">
                <a:solidFill>
                  <a:srgbClr val="112A3D"/>
                </a:solidFill>
                <a:latin typeface="Calibr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639312" cy="3611880"/>
          </a:xfrm>
          <a:prstGeom prst="roundRect">
            <a:avLst>
              <a:gd name="adj" fmla="val 10000"/>
            </a:avLst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0D2333"/>
                </a:solidFill>
                <a:latin typeface="Calibri"/>
              </a:rPr>
              <a:t>AGE SOZINHA</a:t>
            </a:r>
          </a:p>
          <a:p>
            <a:pPr algn="l">
              <a:spcAft>
                <a:spcPts val="800"/>
              </a:spcAft>
            </a:pPr>
            <a:r>
              <a:rPr sz="1150" b="0" i="1">
                <a:solidFill>
                  <a:srgbClr val="0D2333"/>
                </a:solidFill>
                <a:latin typeface="Calibri"/>
              </a:rPr>
              <a:t>Risco baixíssimo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0D2333"/>
                </a:solidFill>
                <a:latin typeface="Calibri"/>
              </a:rPr>
              <a:t>•  Correspondência exata de valor + data próxima + contraparte compatível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0D2333"/>
                </a:solidFill>
                <a:latin typeface="Calibri"/>
              </a:rPr>
              <a:t>•  Sempre com evidência anexada e desfazer a 1 clique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0D2333"/>
                </a:solidFill>
                <a:latin typeface="Calibri"/>
              </a:rPr>
              <a:t>•  Conciliação, nunca criação de lançamento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4526280"/>
            <a:ext cx="3090672" cy="457200"/>
          </a:xfrm>
          <a:prstGeom prst="roundRect">
            <a:avLst>
              <a:gd name="adj" fmla="val 3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6360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DFF25E"/>
                </a:solidFill>
                <a:latin typeface="Calibri"/>
              </a:rPr>
              <a:t>No case: Alfa (CP-001) · Ômega (CR-002)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554480"/>
            <a:ext cx="3639312" cy="361188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8308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SUGERE E CONFIRMA</a:t>
            </a:r>
          </a:p>
          <a:p>
            <a:pPr algn="l">
              <a:spcAft>
                <a:spcPts val="800"/>
              </a:spcAft>
            </a:pPr>
            <a:r>
              <a:rPr sz="1150" b="0" i="1">
                <a:solidFill>
                  <a:srgbClr val="FFFFFF"/>
                </a:solidFill>
                <a:latin typeface="Calibri"/>
              </a:rPr>
              <a:t>Ambiguidade controlada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Nome divergente, lote, retenção provável, pagamento parcial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Score de confiança explicado: quais evidências sustentam a hipótese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 Humano aceita em 1 clique; edição fácil se discordar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4526280"/>
            <a:ext cx="3090672" cy="457200"/>
          </a:xfrm>
          <a:prstGeom prst="roundRect">
            <a:avLst>
              <a:gd name="adj" fmla="val 3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46360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DFF25E"/>
                </a:solidFill>
                <a:latin typeface="Calibri"/>
              </a:rPr>
              <a:t>No case: Silva · Lote 3382 · Gama · Delta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554480"/>
            <a:ext cx="3639312" cy="3611880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78308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C9D8E8"/>
                </a:solidFill>
                <a:latin typeface="Calibri"/>
              </a:rPr>
              <a:t>ESCALA PARA O HUMANO</a:t>
            </a:r>
          </a:p>
          <a:p>
            <a:pPr algn="l">
              <a:spcAft>
                <a:spcPts val="800"/>
              </a:spcAft>
            </a:pPr>
            <a:r>
              <a:rPr sz="1150" b="0" i="1">
                <a:solidFill>
                  <a:srgbClr val="C9D8E8"/>
                </a:solidFill>
                <a:latin typeface="Calibri"/>
              </a:rPr>
              <a:t>Risco financeiro real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C9D8E8"/>
                </a:solidFill>
                <a:latin typeface="Calibri"/>
              </a:rPr>
              <a:t>•  Criação ou alteração de lançamento; múltiplas hipóteses; valor alto; baixa confiança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C9D8E8"/>
                </a:solidFill>
                <a:latin typeface="Calibri"/>
              </a:rPr>
              <a:t>•  O agente prepara contexto e opções; o humano decide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C9D8E8"/>
                </a:solidFill>
                <a:latin typeface="Calibri"/>
              </a:rPr>
              <a:t>•  Nada de baixa automática irreversível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4464" y="4526280"/>
            <a:ext cx="3090672" cy="457200"/>
          </a:xfrm>
          <a:prstGeom prst="roundRect">
            <a:avLst>
              <a:gd name="adj" fmla="val 3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463600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DFF25E"/>
                </a:solidFill>
                <a:latin typeface="Calibri"/>
              </a:rPr>
              <a:t>No case: tarifa R$ 45 · confirmação fiscal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406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0527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0D2333"/>
                </a:solidFill>
                <a:latin typeface="Calibri"/>
              </a:rPr>
              <a:t>Regra de ouro: </a:t>
            </a:r>
            <a:r>
              <a:rPr sz="1250" b="0" i="0">
                <a:solidFill>
                  <a:srgbClr val="112A3D"/>
                </a:solidFill>
                <a:latin typeface="Calibri"/>
              </a:rPr>
              <a:t>a IA nunca cria fato financeiro sem confirmação humana — ela prepara a decisão. Autonomia se ganha com histórico: regras aprendidas ficam para a evolução, não para a v1.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2928" y="-1"/>
            <a:ext cx="2399071" cy="10558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9052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PLANO DE ENTREGA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Como eu tocaria na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vida real</a:t>
            </a:r>
            <a:r>
              <a:rPr sz="3000" b="1" i="0">
                <a:solidFill>
                  <a:srgbClr val="112A3D"/>
                </a:solidFill>
                <a:latin typeface="Calibri"/>
              </a:rPr>
              <a:t>: esforço, capacity e prazo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37360"/>
            <a:ext cx="402336" cy="402336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67712"/>
            <a:ext cx="178308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D2333"/>
                </a:solidFill>
                <a:latin typeface="Calibri"/>
              </a:rPr>
              <a:t>Discovery + design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3 sem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112A3D"/>
                </a:solidFill>
                <a:latin typeface="Calibri"/>
              </a:rPr>
              <a:t>Spikes de matching com dados reais; protótipo validado com 5 clientes; corte de escopo do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3784" y="155448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44952" y="1737360"/>
            <a:ext cx="402336" cy="402336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2267712"/>
            <a:ext cx="178308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D2333"/>
                </a:solidFill>
                <a:latin typeface="Calibri"/>
              </a:rPr>
              <a:t>Build do MVP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8 sem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112A3D"/>
                </a:solidFill>
                <a:latin typeface="Calibri"/>
              </a:rPr>
              <a:t>Motor de conciliação + auditoria + agente com UI generativa; hardening e permissões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8927" y="155448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40095" y="1737360"/>
            <a:ext cx="402336" cy="402336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0095" y="2267712"/>
            <a:ext cx="178308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D2333"/>
                </a:solidFill>
                <a:latin typeface="Calibri"/>
              </a:rPr>
              <a:t>Piloto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6 sem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112A3D"/>
                </a:solidFill>
                <a:latin typeface="Calibri"/>
              </a:rPr>
              <a:t>5–10 clientes perfil Acme; 2 ciclos reais de fechamento; CS junto; critérios de saída definidos 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4071" y="155448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1737360"/>
            <a:ext cx="402336" cy="402336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267712"/>
            <a:ext cx="178308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D2333"/>
                </a:solidFill>
                <a:latin typeface="Calibri"/>
              </a:rPr>
              <a:t>Rollout controlado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8 sem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112A3D"/>
                </a:solidFill>
                <a:latin typeface="Calibri"/>
              </a:rPr>
              <a:t>Coortes por perfil, feature flag, régua de progressão por KPI; rollback pronto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29215" y="1554480"/>
            <a:ext cx="2157984" cy="26060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30384" y="1737360"/>
            <a:ext cx="402336" cy="402336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30384" y="2267712"/>
            <a:ext cx="178308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D2333"/>
                </a:solidFill>
                <a:latin typeface="Calibri"/>
              </a:rPr>
              <a:t>GA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—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112A3D"/>
                </a:solidFill>
                <a:latin typeface="Calibri"/>
              </a:rPr>
              <a:t>Disponível para a base; inicia evolução: regras aprendidas, multi-conta, ações em massa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7939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1">
                <a:solidFill>
                  <a:srgbClr val="5E7182"/>
                </a:solidFill>
                <a:latin typeface="Calibri"/>
              </a:rPr>
              <a:t>≈ 25 semanas corridas do kickoff ao GA — cada fase só avança com critério de saída batido.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09160"/>
            <a:ext cx="6766560" cy="164592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8"/>
            <a:ext cx="6126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FF25E"/>
                </a:solidFill>
                <a:latin typeface="Calibri"/>
              </a:rPr>
              <a:t>SQUAD (CAPACITY)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1 PM · 1 Product Designer · 1 Tech Lead + 3 eng (2 back, 1 front) · 1 eng de dados/ML em tempo parcial · CX/CS dedicados no piloto  ≈  6,5 FTEs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FF25E"/>
                </a:solidFill>
                <a:latin typeface="Calibri"/>
              </a:rPr>
              <a:t>~6 meses do kickoff ao GA, perfeitamente funcional — não um MVP capenga.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709160"/>
            <a:ext cx="4142232" cy="164592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4910328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D2333"/>
                </a:solidFill>
                <a:latin typeface="Calibri"/>
              </a:rPr>
              <a:t>PREMISSAS DA ESTIMATIVA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112A3D"/>
                </a:solidFill>
                <a:latin typeface="Calibri"/>
              </a:rPr>
              <a:t>Estimativa de partida, calibrada em planning com engenharia. Assume extrato já integrado (banco próprio + Open Finance) e aproveita o motor de lote/Sispag existente.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2608</Words>
  <Application>Microsoft Office PowerPoint</Application>
  <PresentationFormat>Widescreen</PresentationFormat>
  <Paragraphs>262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Bruce Bianchini Batista</cp:lastModifiedBy>
  <cp:revision>4</cp:revision>
  <dcterms:created xsi:type="dcterms:W3CDTF">2013-01-27T09:14:16Z</dcterms:created>
  <dcterms:modified xsi:type="dcterms:W3CDTF">2026-07-06T23:40:15Z</dcterms:modified>
  <cp:category/>
</cp:coreProperties>
</file>